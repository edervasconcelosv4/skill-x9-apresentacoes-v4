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FF3333">
              <a:alpha val="20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FF3333">
              <a:alpha val="12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370E0E">
              <a:alpha val="24000"/>
            </a:srgbClr>
          </a:solidFill>
          <a:ln w="12700">
            <a:solidFill>
              <a:srgbClr val="370E0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3333">
              <a:alpha val="45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914400"/>
            <a:ext cx="1554480" cy="27432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097280"/>
            <a:ext cx="5029200" cy="3383280"/>
          </a:xfrm>
          <a:prstGeom prst="ellipse">
            <a:avLst/>
          </a:prstGeom>
          <a:solidFill>
            <a:srgbClr val="FF3333">
              <a:alpha val="10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0972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FIBRANETBR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1508760"/>
            <a:ext cx="8778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PLANEJAMENTO ESTRATÉGICO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566928" y="3182112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Transformar a estratégia em plano executável de aquisição, engajamento, monetização e retenção.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" y="61447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 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35440" y="61447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V4 Company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FF3333">
              <a:alpha val="20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FF3333">
              <a:alpha val="12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370E0E">
              <a:alpha val="24000"/>
            </a:srgbClr>
          </a:solidFill>
          <a:ln w="12700">
            <a:solidFill>
              <a:srgbClr val="370E0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3333">
              <a:alpha val="45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0896"/>
            <a:ext cx="1097280" cy="18288"/>
          </a:xfrm>
          <a:prstGeom prst="rect">
            <a:avLst/>
          </a:prstGeom>
          <a:solidFill>
            <a:srgbClr val="FF3333">
              <a:alpha val="65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01. CONTEXTO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7315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Momento atual: diagnóstico executivo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14264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operação tem força para crescer, mas o motor digital ainda não acompanha o potencial físico.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" y="2212848"/>
            <a:ext cx="5321808" cy="3886200"/>
          </a:xfrm>
          <a:prstGeom prst="roundRect">
            <a:avLst>
              <a:gd name="adj" fmla="val 1882"/>
            </a:avLst>
          </a:prstGeom>
          <a:solidFill>
            <a:srgbClr val="000000">
              <a:alpha val="2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148840"/>
            <a:ext cx="5321808" cy="3886200"/>
          </a:xfrm>
          <a:prstGeom prst="roundRect">
            <a:avLst>
              <a:gd name="adj" fmla="val 1882"/>
            </a:avLst>
          </a:prstGeom>
          <a:solidFill>
            <a:srgbClr val="16261E"/>
          </a:solidFill>
          <a:ln w="12700">
            <a:solidFill>
              <a:srgbClr val="314E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240280"/>
            <a:ext cx="5175504" cy="18288"/>
          </a:xfrm>
          <a:prstGeom prst="rect">
            <a:avLst/>
          </a:prstGeom>
          <a:solidFill>
            <a:srgbClr val="21C26B">
              <a:alpha val="42000"/>
            </a:srgbClr>
          </a:solidFill>
          <a:ln w="12700">
            <a:solidFill>
              <a:srgbClr val="21C26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148840"/>
            <a:ext cx="5321808" cy="54864"/>
          </a:xfrm>
          <a:prstGeom prst="rect">
            <a:avLst/>
          </a:prstGeom>
          <a:solidFill>
            <a:srgbClr val="21C26B"/>
          </a:solidFill>
          <a:ln w="12700">
            <a:solidFill>
              <a:srgbClr val="21C2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2377440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Sinais fortes da operação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95528" y="2971800"/>
            <a:ext cx="82296" cy="82296"/>
          </a:xfrm>
          <a:prstGeom prst="ellipse">
            <a:avLst/>
          </a:prstGeom>
          <a:solidFill>
            <a:srgbClr val="21C26B"/>
          </a:solidFill>
          <a:ln w="12700">
            <a:solidFill>
              <a:srgbClr val="21C2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2898648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com cerca de 7.000 clientes ativos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795528" y="3502152"/>
            <a:ext cx="82296" cy="82296"/>
          </a:xfrm>
          <a:prstGeom prst="ellipse">
            <a:avLst/>
          </a:prstGeom>
          <a:solidFill>
            <a:srgbClr val="21C26B"/>
          </a:solidFill>
          <a:ln w="12700">
            <a:solidFill>
              <a:srgbClr val="21C2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429000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estimado em aproximadamente 1%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795528" y="4032504"/>
            <a:ext cx="82296" cy="82296"/>
          </a:xfrm>
          <a:prstGeom prst="ellipse">
            <a:avLst/>
          </a:prstGeom>
          <a:solidFill>
            <a:srgbClr val="21C26B"/>
          </a:solidFill>
          <a:ln w="12700">
            <a:solidFill>
              <a:srgbClr val="21C2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959352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Forte reputação local e nota 4,8 no Google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6336792" y="2212848"/>
            <a:ext cx="5321808" cy="3886200"/>
          </a:xfrm>
          <a:prstGeom prst="roundRect">
            <a:avLst>
              <a:gd name="adj" fmla="val 1882"/>
            </a:avLst>
          </a:prstGeom>
          <a:solidFill>
            <a:srgbClr val="000000">
              <a:alpha val="2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1072" y="2148840"/>
            <a:ext cx="5321808" cy="3886200"/>
          </a:xfrm>
          <a:prstGeom prst="roundRect">
            <a:avLst>
              <a:gd name="adj" fmla="val 1882"/>
            </a:avLst>
          </a:prstGeom>
          <a:solidFill>
            <a:srgbClr val="2C1818"/>
          </a:solidFill>
          <a:ln w="12700">
            <a:solidFill>
              <a:srgbClr val="5934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4224" y="2240280"/>
            <a:ext cx="5175504" cy="18288"/>
          </a:xfrm>
          <a:prstGeom prst="rect">
            <a:avLst/>
          </a:prstGeom>
          <a:solidFill>
            <a:srgbClr val="FF3333">
              <a:alpha val="42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91072" y="2148840"/>
            <a:ext cx="5321808" cy="54864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2377440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Gargalos do crescimento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6519672" y="2971800"/>
            <a:ext cx="82296" cy="82296"/>
          </a:xfrm>
          <a:prstGeom prst="ellipse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84264" y="2898648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abaixo do potencial</a:t>
            </a:r>
            <a:endParaRPr lang="en-US" sz="1260" dirty="0"/>
          </a:p>
        </p:txBody>
      </p:sp>
      <p:sp>
        <p:nvSpPr>
          <p:cNvPr id="31" name="Shape 29"/>
          <p:cNvSpPr/>
          <p:nvPr/>
        </p:nvSpPr>
        <p:spPr>
          <a:xfrm>
            <a:off x="6519672" y="3502152"/>
            <a:ext cx="82296" cy="82296"/>
          </a:xfrm>
          <a:prstGeom prst="ellipse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84264" y="3429000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Comercial não setorizado</a:t>
            </a:r>
            <a:endParaRPr lang="en-US" sz="1260" dirty="0"/>
          </a:p>
        </p:txBody>
      </p:sp>
      <p:sp>
        <p:nvSpPr>
          <p:cNvPr id="33" name="Shape 31"/>
          <p:cNvSpPr/>
          <p:nvPr/>
        </p:nvSpPr>
        <p:spPr>
          <a:xfrm>
            <a:off x="6519672" y="4032504"/>
            <a:ext cx="82296" cy="82296"/>
          </a:xfrm>
          <a:prstGeom prst="ellipse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84264" y="3959352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 pouco estruturado e crescimento reativo</a:t>
            </a:r>
            <a:endParaRPr lang="en-US" sz="12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FF3333">
              <a:alpha val="20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FF3333">
              <a:alpha val="12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370E0E">
              <a:alpha val="24000"/>
            </a:srgbClr>
          </a:solidFill>
          <a:ln w="12700">
            <a:solidFill>
              <a:srgbClr val="370E0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3333">
              <a:alpha val="45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0896"/>
            <a:ext cx="1097280" cy="18288"/>
          </a:xfrm>
          <a:prstGeom prst="rect">
            <a:avLst/>
          </a:prstGeom>
          <a:solidFill>
            <a:srgbClr val="FF3333">
              <a:alpha val="65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VALIDADOS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7315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validados: base e operação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14264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Panorama de infraestrutura e viabilidade comercial.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331720"/>
            <a:ext cx="2613584" cy="3246120"/>
          </a:xfrm>
          <a:prstGeom prst="roundRect">
            <a:avLst>
              <a:gd name="adj" fmla="val 2799"/>
            </a:avLst>
          </a:prstGeom>
          <a:solidFill>
            <a:srgbClr val="311919"/>
          </a:solidFill>
          <a:ln w="12700">
            <a:solidFill>
              <a:srgbClr val="5934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432304"/>
            <a:ext cx="2467280" cy="18288"/>
          </a:xfrm>
          <a:prstGeom prst="rect">
            <a:avLst/>
          </a:prstGeom>
          <a:solidFill>
            <a:srgbClr val="FF3333">
              <a:alpha val="42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331720"/>
            <a:ext cx="2613584" cy="54864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852928"/>
            <a:ext cx="221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7.000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68096" y="370332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clientes ativos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224528"/>
            <a:ext cx="210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relevante para expansão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81680" y="2331720"/>
            <a:ext cx="2613584" cy="3246120"/>
          </a:xfrm>
          <a:prstGeom prst="roundRect">
            <a:avLst>
              <a:gd name="adj" fmla="val 2799"/>
            </a:avLst>
          </a:prstGeom>
          <a:solidFill>
            <a:srgbClr val="311919"/>
          </a:solidFill>
          <a:ln w="12700">
            <a:solidFill>
              <a:srgbClr val="5934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54832" y="2432304"/>
            <a:ext cx="2467280" cy="18288"/>
          </a:xfrm>
          <a:prstGeom prst="rect">
            <a:avLst/>
          </a:prstGeom>
          <a:solidFill>
            <a:srgbClr val="FF3333">
              <a:alpha val="42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1680" y="2331720"/>
            <a:ext cx="2613584" cy="54864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2848" y="2852928"/>
            <a:ext cx="221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3582848" y="370332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estimado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37712" y="4224528"/>
            <a:ext cx="210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Retenção excepcional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96432" y="2331720"/>
            <a:ext cx="2613584" cy="3246120"/>
          </a:xfrm>
          <a:prstGeom prst="roundRect">
            <a:avLst>
              <a:gd name="adj" fmla="val 2799"/>
            </a:avLst>
          </a:prstGeom>
          <a:solidFill>
            <a:srgbClr val="311919"/>
          </a:solidFill>
          <a:ln w="12700">
            <a:solidFill>
              <a:srgbClr val="5934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9584" y="2432304"/>
            <a:ext cx="2467280" cy="18288"/>
          </a:xfrm>
          <a:prstGeom prst="rect">
            <a:avLst/>
          </a:prstGeom>
          <a:solidFill>
            <a:srgbClr val="FF3333">
              <a:alpha val="42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6432" y="2331720"/>
            <a:ext cx="2613584" cy="54864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97600" y="2852928"/>
            <a:ext cx="221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dias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6397600" y="370332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ativação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52464" y="4224528"/>
            <a:ext cx="210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Diferencial competitivo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011183" y="2331720"/>
            <a:ext cx="2613584" cy="3246120"/>
          </a:xfrm>
          <a:prstGeom prst="roundRect">
            <a:avLst>
              <a:gd name="adj" fmla="val 2799"/>
            </a:avLst>
          </a:prstGeom>
          <a:solidFill>
            <a:srgbClr val="311919"/>
          </a:solidFill>
          <a:ln w="12700">
            <a:solidFill>
              <a:srgbClr val="59343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84335" y="2432304"/>
            <a:ext cx="2467280" cy="18288"/>
          </a:xfrm>
          <a:prstGeom prst="rect">
            <a:avLst/>
          </a:prstGeom>
          <a:solidFill>
            <a:srgbClr val="FF3333">
              <a:alpha val="42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11183" y="2331720"/>
            <a:ext cx="2613584" cy="54864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12351" y="2852928"/>
            <a:ext cx="221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2018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9212351" y="370332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maturidade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267215" y="4224528"/>
            <a:ext cx="210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Presença consolidada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FF3333">
              <a:alpha val="20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FF3333">
              <a:alpha val="12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370E0E">
              <a:alpha val="24000"/>
            </a:srgbClr>
          </a:solidFill>
          <a:ln w="12700">
            <a:solidFill>
              <a:srgbClr val="370E0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3333">
              <a:alpha val="45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1051560"/>
            <a:ext cx="7863840" cy="4206240"/>
          </a:xfrm>
          <a:prstGeom prst="ellipse">
            <a:avLst/>
          </a:prstGeom>
          <a:solidFill>
            <a:srgbClr val="FF3333">
              <a:alpha val="10000"/>
            </a:srgbClr>
          </a:solidFill>
          <a:ln w="12700">
            <a:solidFill>
              <a:srgbClr val="FF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05740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FibranetBR não vende internet.</a:t>
            </a:r>
            <a:endParaRPr lang="en-US" sz="4300" dirty="0"/>
          </a:p>
        </p:txBody>
      </p:sp>
      <p:sp>
        <p:nvSpPr>
          <p:cNvPr id="11" name="Text 9"/>
          <p:cNvSpPr/>
          <p:nvPr/>
        </p:nvSpPr>
        <p:spPr>
          <a:xfrm>
            <a:off x="1828800" y="3246120"/>
            <a:ext cx="8549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cliente compra estabilidade, rapidez e confiança.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063240" y="4224528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Tese estratégica da Semana 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V4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FibranetBR - Planejamento Estratégico</dc:title>
  <dc:subject>Teste de formatos X9</dc:subject>
  <dc:creator>x9-2-0-14ev</dc:creator>
  <cp:lastModifiedBy>x9-2-0-14ev</cp:lastModifiedBy>
  <cp:revision>1</cp:revision>
  <dcterms:created xsi:type="dcterms:W3CDTF">2026-05-14T20:33:55Z</dcterms:created>
  <dcterms:modified xsi:type="dcterms:W3CDTF">2026-05-14T20:33:55Z</dcterms:modified>
</cp:coreProperties>
</file>