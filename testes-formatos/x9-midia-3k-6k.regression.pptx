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intencionalmente mais simples: menos cinematica, mais executiva.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decisao: deixa claro o papel estrategico de cada faixa de investimento.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visual para explicar por que a proporcao muda pouco, mas a capacidade operacional muda muito.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operacao: mostra que a distribuicao de midia precisa se conectar com funil e medicao.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00D6B4">
              <a:alpha val="20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00D6B4">
              <a:alpha val="12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042F28">
              <a:alpha val="24000"/>
            </a:srgbClr>
          </a:solidFill>
          <a:ln w="12700">
            <a:solidFill>
              <a:srgbClr val="042F2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00D6B4">
              <a:alpha val="45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914400"/>
            <a:ext cx="1554480" cy="2743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097280"/>
            <a:ext cx="5029200" cy="3383280"/>
          </a:xfrm>
          <a:prstGeom prst="ellipse">
            <a:avLst/>
          </a:prstGeom>
          <a:solidFill>
            <a:srgbClr val="00D6B4">
              <a:alpha val="10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097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MIDIA PAGA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1508760"/>
            <a:ext cx="8778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Plano de investimento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566928" y="318211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cenarios para distribuir verba entre Meta Ads e Google Ads, comparando o que muda quando o cliente sai de R$ 3k para R$ 6k.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" y="61447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Teste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35440" y="6144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X9 2.0 | Media Plan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00D6B4">
              <a:alpha val="20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00D6B4">
              <a:alpha val="12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042F28">
              <a:alpha val="24000"/>
            </a:srgbClr>
          </a:solidFill>
          <a:ln w="12700">
            <a:solidFill>
              <a:srgbClr val="042F2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00D6B4">
              <a:alpha val="45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00D6B4">
              <a:alpha val="65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DISTRIBUICAO DE MIDIA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cenarios, duas velocidades de aprendizado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investimento de R$ 3k valida direcao. O de R$ 6k permite testar mais criativos, acelerar aprendizado e proteger captura de demanda.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066544"/>
            <a:ext cx="5440680" cy="3474720"/>
          </a:xfrm>
          <a:prstGeom prst="roundRect">
            <a:avLst>
              <a:gd name="adj" fmla="val 2632"/>
            </a:avLst>
          </a:prstGeom>
          <a:solidFill>
            <a:srgbClr val="122C28"/>
          </a:solidFill>
          <a:ln w="12700">
            <a:solidFill>
              <a:srgbClr val="3B3B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066544"/>
            <a:ext cx="544068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Cenario conservador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493008" y="22677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R$ 3.000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22960" y="278892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Verba de validacao: poucas frentes, controle maior e leitura mais lenta.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22960" y="3310128"/>
            <a:ext cx="2322576" cy="896112"/>
          </a:xfrm>
          <a:prstGeom prst="roundRect">
            <a:avLst>
              <a:gd name="adj" fmla="val 8163"/>
            </a:avLst>
          </a:prstGeom>
          <a:solidFill>
            <a:srgbClr val="1A2A44"/>
          </a:solidFill>
          <a:ln w="12700">
            <a:solidFill>
              <a:srgbClr val="33456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310128"/>
            <a:ext cx="2322576" cy="54864"/>
          </a:xfrm>
          <a:prstGeom prst="rect">
            <a:avLst/>
          </a:prstGeom>
          <a:solidFill>
            <a:srgbClr val="2F7CFF"/>
          </a:solidFill>
          <a:ln w="12700">
            <a:solidFill>
              <a:srgbClr val="2F7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3493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Ads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1783080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R$ 1.800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60% - descoberta e remarketing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3346704" y="3310128"/>
            <a:ext cx="2322576" cy="896112"/>
          </a:xfrm>
          <a:prstGeom prst="roundRect">
            <a:avLst>
              <a:gd name="adj" fmla="val 8163"/>
            </a:avLst>
          </a:prstGeom>
          <a:solidFill>
            <a:srgbClr val="443411"/>
          </a:solidFill>
          <a:ln w="12700">
            <a:solidFill>
              <a:srgbClr val="6552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46704" y="3310128"/>
            <a:ext cx="2322576" cy="54864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493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306824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R$ 1.200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93008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40% - captura de demanda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841248" y="4526280"/>
            <a:ext cx="64008" cy="64008"/>
          </a:xfrm>
          <a:prstGeom prst="ellipse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4531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Prioriza publico frio no Meta com criativos de dor e prova.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41248" y="4837176"/>
            <a:ext cx="64008" cy="64008"/>
          </a:xfrm>
          <a:prstGeom prst="ellipse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4764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fica concentrado em termos de maior intencao.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841248" y="5148072"/>
            <a:ext cx="64008" cy="64008"/>
          </a:xfrm>
          <a:prstGeom prst="ellipse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50749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 opcao quando ainda nao ha historico forte de conversao.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172200" y="2066544"/>
            <a:ext cx="5440680" cy="3474720"/>
          </a:xfrm>
          <a:prstGeom prst="roundRect">
            <a:avLst>
              <a:gd name="adj" fmla="val 2632"/>
            </a:avLst>
          </a:prstGeom>
          <a:solidFill>
            <a:srgbClr val="10433B"/>
          </a:solidFill>
          <a:ln w="12700">
            <a:solidFill>
              <a:srgbClr val="2958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2066544"/>
            <a:ext cx="5440680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Cenario recomendado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9098280" y="22677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R$ 6.000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6428232" y="278892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Verba de tracao: mais testes simultaneos e leitura melhor por canal.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6428232" y="3310128"/>
            <a:ext cx="2322576" cy="896112"/>
          </a:xfrm>
          <a:prstGeom prst="roundRect">
            <a:avLst>
              <a:gd name="adj" fmla="val 8163"/>
            </a:avLst>
          </a:prstGeom>
          <a:solidFill>
            <a:srgbClr val="1A2A44"/>
          </a:solidFill>
          <a:ln w="12700">
            <a:solidFill>
              <a:srgbClr val="33456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8232" y="3310128"/>
            <a:ext cx="2322576" cy="54864"/>
          </a:xfrm>
          <a:prstGeom prst="rect">
            <a:avLst/>
          </a:prstGeom>
          <a:solidFill>
            <a:srgbClr val="2F7CFF"/>
          </a:solidFill>
          <a:ln w="12700">
            <a:solidFill>
              <a:srgbClr val="2F7C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74536" y="3493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Ads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7388352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R$ 3.300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74536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55% - escala criativa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8951976" y="3310128"/>
            <a:ext cx="2322576" cy="896112"/>
          </a:xfrm>
          <a:prstGeom prst="roundRect">
            <a:avLst>
              <a:gd name="adj" fmla="val 8163"/>
            </a:avLst>
          </a:prstGeom>
          <a:solidFill>
            <a:srgbClr val="443411"/>
          </a:solidFill>
          <a:ln w="12700">
            <a:solidFill>
              <a:srgbClr val="6552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51976" y="3310128"/>
            <a:ext cx="2322576" cy="54864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280" y="3493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912096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R$ 2.700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98280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 - demanda ativa</a:t>
            </a:r>
            <a:endParaRPr lang="en-US" sz="890" dirty="0"/>
          </a:p>
        </p:txBody>
      </p:sp>
      <p:sp>
        <p:nvSpPr>
          <p:cNvPr id="49" name="Shape 47"/>
          <p:cNvSpPr/>
          <p:nvPr/>
        </p:nvSpPr>
        <p:spPr>
          <a:xfrm>
            <a:off x="6446520" y="4526280"/>
            <a:ext cx="64008" cy="64008"/>
          </a:xfrm>
          <a:prstGeom prst="ellipse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11112" y="44531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Permite separar aquisicao, prova social e remarketing.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6446520" y="4837176"/>
            <a:ext cx="64008" cy="64008"/>
          </a:xfrm>
          <a:prstGeom prst="ellipse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11112" y="4764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ganha folego para search + termos concorrenciais.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6446520" y="5148072"/>
            <a:ext cx="64008" cy="64008"/>
          </a:xfrm>
          <a:prstGeom prst="ellipse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11112" y="50749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chance de identificar vencedor sem esperar muitas semanas.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566928" y="5715000"/>
            <a:ext cx="11057839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8096" y="5843016"/>
            <a:ext cx="106555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Minha recomendacao: se o objetivo for aprender com seguranca, R$ 3k resolve; se o objetivo for gerar volume e leitura semanal, R$ 6k e o minimo mais saudavel.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00D6B4">
              <a:alpha val="20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00D6B4">
              <a:alpha val="12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042F28">
              <a:alpha val="24000"/>
            </a:srgbClr>
          </a:solidFill>
          <a:ln w="12700">
            <a:solidFill>
              <a:srgbClr val="042F2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00D6B4">
              <a:alpha val="45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00D6B4">
              <a:alpha val="65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MIX META + GOOGLE ADS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Mix de canal por cenario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divisao nao e so matematica. Meta sustenta descoberta e recorrencia; Google captura quem ja esta procurando solucao.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048256"/>
            <a:ext cx="5440680" cy="3886200"/>
          </a:xfrm>
          <a:prstGeom prst="roundRect">
            <a:avLst>
              <a:gd name="adj" fmla="val 2353"/>
            </a:avLst>
          </a:prstGeom>
          <a:solidFill>
            <a:srgbClr val="122C28"/>
          </a:solidFill>
          <a:ln w="12700">
            <a:solidFill>
              <a:srgbClr val="2C4E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R$ 3k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3493008" y="228600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Validacao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" y="2852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Ads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3950208" y="2852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R$ 1.800 | 60%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41248" y="3163824"/>
            <a:ext cx="4800600" cy="164592"/>
          </a:xfrm>
          <a:prstGeom prst="roundRect">
            <a:avLst>
              <a:gd name="adj" fmla="val 3888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3163824"/>
            <a:ext cx="2880360" cy="164592"/>
          </a:xfrm>
          <a:prstGeom prst="roundRect">
            <a:avLst>
              <a:gd name="adj" fmla="val 38889"/>
            </a:avLst>
          </a:prstGeom>
          <a:solidFill>
            <a:srgbClr val="2F7CFF"/>
          </a:solidFill>
          <a:ln w="12700">
            <a:solidFill>
              <a:srgbClr val="2F7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45643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campanhas: aquisicao + remarketing leve.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841248" y="38130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3950208" y="3813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R$ 1.200 | 40%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41248" y="4123944"/>
            <a:ext cx="4800600" cy="164592"/>
          </a:xfrm>
          <a:prstGeom prst="roundRect">
            <a:avLst>
              <a:gd name="adj" fmla="val 3888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4123944"/>
            <a:ext cx="1920240" cy="164592"/>
          </a:xfrm>
          <a:prstGeom prst="roundRect">
            <a:avLst>
              <a:gd name="adj" fmla="val 38889"/>
            </a:avLst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41655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campanha search com palavras de alta intencao.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41248" y="5184648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2852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principal: descobrir se a oferta gera conversa qualificada sem abrir muitas variaveis.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2048256"/>
            <a:ext cx="5440680" cy="3886200"/>
          </a:xfrm>
          <a:prstGeom prst="roundRect">
            <a:avLst>
              <a:gd name="adj" fmla="val 2353"/>
            </a:avLst>
          </a:prstGeom>
          <a:solidFill>
            <a:srgbClr val="122C28"/>
          </a:solidFill>
          <a:ln w="12700">
            <a:solidFill>
              <a:srgbClr val="2C4E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R$ 6k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9098280" y="228600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Tracao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46520" y="2852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Ads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9555480" y="2852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R$ 3.300 | 55%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446520" y="3163824"/>
            <a:ext cx="4800600" cy="164592"/>
          </a:xfrm>
          <a:prstGeom prst="roundRect">
            <a:avLst>
              <a:gd name="adj" fmla="val 3888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3163824"/>
            <a:ext cx="2640330" cy="164592"/>
          </a:xfrm>
          <a:prstGeom prst="roundRect">
            <a:avLst>
              <a:gd name="adj" fmla="val 38889"/>
            </a:avLst>
          </a:prstGeom>
          <a:solidFill>
            <a:srgbClr val="2F7CFF"/>
          </a:solidFill>
          <a:ln w="12700">
            <a:solidFill>
              <a:srgbClr val="2F7C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45643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frentes: criativo, prova social e remarketing.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6446520" y="38130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9555480" y="3813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R$ 2.700 | 45%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6446520" y="4123944"/>
            <a:ext cx="4800600" cy="164592"/>
          </a:xfrm>
          <a:prstGeom prst="roundRect">
            <a:avLst>
              <a:gd name="adj" fmla="val 3888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4123944"/>
            <a:ext cx="2160270" cy="164592"/>
          </a:xfrm>
          <a:prstGeom prst="roundRect">
            <a:avLst>
              <a:gd name="adj" fmla="val 38889"/>
            </a:avLst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441655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principal + extensoes por servico/regiao.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446520" y="5184648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11112" y="52852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principal: comparar angulos criativos e capturar demanda sem sufocar o aprendizado.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00D6B4">
              <a:alpha val="20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00D6B4">
              <a:alpha val="12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042F28">
              <a:alpha val="24000"/>
            </a:srgbClr>
          </a:solidFill>
          <a:ln w="12700">
            <a:solidFill>
              <a:srgbClr val="042F2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00D6B4">
              <a:alpha val="45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00D6B4">
              <a:alpha val="65000"/>
            </a:srgbClr>
          </a:solidFill>
          <a:ln w="12700">
            <a:solidFill>
              <a:srgbClr val="00D6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PLANO POR FUNIL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eu operaria os canais na pratica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verba precisa ser lida como sistema: Meta gera contexto, Google captura intencao, remarketing reduz perda e o WhatsApp/LP converte.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523744"/>
            <a:ext cx="2654732" cy="3063240"/>
          </a:xfrm>
          <a:prstGeom prst="roundRect">
            <a:avLst>
              <a:gd name="adj" fmla="val 3444"/>
            </a:avLst>
          </a:prstGeom>
          <a:solidFill>
            <a:srgbClr val="122C28"/>
          </a:solidFill>
          <a:ln w="12700">
            <a:solidFill>
              <a:srgbClr val="2C4E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523744"/>
            <a:ext cx="2654732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8163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3218688"/>
            <a:ext cx="2288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Descoberta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749808" y="3822192"/>
            <a:ext cx="2288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Anuncios de dor, oportunidade e antes/depois para criar interesse em publico frio.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49808" y="4937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Ads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1892808" y="4928616"/>
            <a:ext cx="1145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CTR, CPM, engajamento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3367964" y="2267712"/>
            <a:ext cx="2654732" cy="3063240"/>
          </a:xfrm>
          <a:prstGeom prst="roundRect">
            <a:avLst>
              <a:gd name="adj" fmla="val 3444"/>
            </a:avLst>
          </a:prstGeom>
          <a:solidFill>
            <a:srgbClr val="12302B"/>
          </a:solidFill>
          <a:ln w="12700">
            <a:solidFill>
              <a:srgbClr val="2C4E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7964" y="2267712"/>
            <a:ext cx="2654732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0844" y="2560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50844" y="2962656"/>
            <a:ext cx="2288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Intencao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3550844" y="3566160"/>
            <a:ext cx="2288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para capturar quem ja procura solucao, servico, marca ou comparacao.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3550844" y="46817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4693844" y="4672584"/>
            <a:ext cx="1145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CPC, taxa de conversao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6169000" y="2267712"/>
            <a:ext cx="2654732" cy="3063240"/>
          </a:xfrm>
          <a:prstGeom prst="roundRect">
            <a:avLst>
              <a:gd name="adj" fmla="val 3444"/>
            </a:avLst>
          </a:prstGeom>
          <a:solidFill>
            <a:srgbClr val="12302B"/>
          </a:solidFill>
          <a:ln w="12700">
            <a:solidFill>
              <a:srgbClr val="2C4E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9000" y="2267712"/>
            <a:ext cx="2654732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1880" y="2560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51880" y="2962656"/>
            <a:ext cx="2288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Prova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6351880" y="3566160"/>
            <a:ext cx="2288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Criativos com caso, oferta, objecoes e argumentos para quem demonstrou interesse.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6351880" y="46817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+ Google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7494880" y="4672584"/>
            <a:ext cx="1145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CPL, qualidade do lead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8970035" y="2523744"/>
            <a:ext cx="2654732" cy="3063240"/>
          </a:xfrm>
          <a:prstGeom prst="roundRect">
            <a:avLst>
              <a:gd name="adj" fmla="val 3444"/>
            </a:avLst>
          </a:prstGeom>
          <a:solidFill>
            <a:srgbClr val="122C28"/>
          </a:solidFill>
          <a:ln w="12700">
            <a:solidFill>
              <a:srgbClr val="2C4E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70035" y="2523744"/>
            <a:ext cx="2654732" cy="73152"/>
          </a:xfrm>
          <a:prstGeom prst="rect">
            <a:avLst/>
          </a:prstGeom>
          <a:solidFill>
            <a:srgbClr val="00D6B4"/>
          </a:solidFill>
          <a:ln w="12700">
            <a:solidFill>
              <a:srgbClr val="00D6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52915" y="28163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6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152915" y="3218688"/>
            <a:ext cx="2288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Conversao</a:t>
            </a:r>
            <a:endParaRPr lang="en-US" sz="1520" dirty="0"/>
          </a:p>
        </p:txBody>
      </p:sp>
      <p:sp>
        <p:nvSpPr>
          <p:cNvPr id="38" name="Text 36"/>
          <p:cNvSpPr/>
          <p:nvPr/>
        </p:nvSpPr>
        <p:spPr>
          <a:xfrm>
            <a:off x="9152915" y="3822192"/>
            <a:ext cx="2288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Direcionamento para WhatsApp ou landing page com CTA claro e rastreio simples.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9152915" y="49377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LP / WhatsApp</a:t>
            </a:r>
            <a:endParaRPr lang="en-US" sz="1040" dirty="0"/>
          </a:p>
        </p:txBody>
      </p:sp>
      <p:sp>
        <p:nvSpPr>
          <p:cNvPr id="40" name="Text 38"/>
          <p:cNvSpPr/>
          <p:nvPr/>
        </p:nvSpPr>
        <p:spPr>
          <a:xfrm>
            <a:off x="10295915" y="4928616"/>
            <a:ext cx="1145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valido, venda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566928" y="5669280"/>
            <a:ext cx="11057839" cy="457200"/>
          </a:xfrm>
          <a:prstGeom prst="roundRect">
            <a:avLst>
              <a:gd name="adj" fmla="val 16000"/>
            </a:avLst>
          </a:prstGeom>
          <a:solidFill>
            <a:srgbClr val="12342E"/>
          </a:solidFill>
          <a:ln w="12700">
            <a:solidFill>
              <a:srgbClr val="275D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" y="5797296"/>
            <a:ext cx="106189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for rodar R$ 6k, eu separaria os testes por etapa do funil desde o primeiro dia; em R$ 3k, eu manteria o sistema mais enxuto.</a:t>
            </a:r>
            <a:endParaRPr lang="en-US" sz="11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V4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Cliente Teste - Distribuicao de Midia - Meta + Google Ads</dc:title>
  <dc:subject>Teste de formatos X9</dc:subject>
  <dc:creator>x9-2-0-14ev</dc:creator>
  <cp:lastModifiedBy>x9-2-0-14ev</cp:lastModifiedBy>
  <cp:revision>1</cp:revision>
  <dcterms:created xsi:type="dcterms:W3CDTF">2026-05-15T11:15:26Z</dcterms:created>
  <dcterms:modified xsi:type="dcterms:W3CDTF">2026-05-15T11:15:26Z</dcterms:modified>
</cp:coreProperties>
</file>