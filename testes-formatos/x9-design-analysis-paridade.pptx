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2468880" y="-274320"/>
            <a:ext cx="10515600" cy="7680960"/>
          </a:xfrm>
          <a:prstGeom prst="rect">
            <a:avLst/>
          </a:prstGeom>
          <a:solidFill>
            <a:srgbClr val="101010">
              <a:alpha val="82000"/>
            </a:srgbClr>
          </a:solidFill>
          <a:ln w="12700">
            <a:solidFill>
              <a:srgbClr val="10101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-1325880"/>
            <a:ext cx="4937760" cy="3840480"/>
          </a:xfrm>
          <a:prstGeom prst="ellipse">
            <a:avLst/>
          </a:prstGeom>
          <a:solidFill>
            <a:srgbClr val="F05A1A">
              <a:alpha val="20000"/>
            </a:srgbClr>
          </a:solidFill>
          <a:ln w="12700">
            <a:solidFill>
              <a:srgbClr val="F05A1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-658368"/>
            <a:ext cx="3383280" cy="2468880"/>
          </a:xfrm>
          <a:prstGeom prst="ellipse">
            <a:avLst/>
          </a:prstGeom>
          <a:solidFill>
            <a:srgbClr val="F05A1A">
              <a:alpha val="12000"/>
            </a:srgbClr>
          </a:solidFill>
          <a:ln w="12700">
            <a:solidFill>
              <a:srgbClr val="F05A1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4572000"/>
            <a:ext cx="4389120" cy="2834640"/>
          </a:xfrm>
          <a:prstGeom prst="ellipse">
            <a:avLst/>
          </a:prstGeom>
          <a:solidFill>
            <a:srgbClr val="341609">
              <a:alpha val="24000"/>
            </a:srgbClr>
          </a:solidFill>
          <a:ln w="12700">
            <a:solidFill>
              <a:srgbClr val="34160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5A1A"/>
          </a:solidFill>
          <a:ln w="12700">
            <a:solidFill>
              <a:srgbClr val="F05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05A1A">
              <a:alpha val="45000"/>
            </a:srgbClr>
          </a:solidFill>
          <a:ln w="12700">
            <a:solidFill>
              <a:srgbClr val="F05A1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731520"/>
            <a:ext cx="4754880" cy="4754880"/>
          </a:xfrm>
          <a:prstGeom prst="ellipse">
            <a:avLst/>
          </a:prstGeom>
          <a:solidFill>
            <a:srgbClr val="F05A1A">
              <a:alpha val="12000"/>
            </a:srgbClr>
          </a:solidFill>
          <a:ln w="12700">
            <a:solidFill>
              <a:srgbClr val="F05A1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0515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05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66928" y="1920240"/>
            <a:ext cx="9601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Padroes comerciais agora entram no renderer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566928" y="34930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PPTX deve preservar composicao, cards, funis, nodes e dashboards sem cair em slide vazio.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66928" y="4956048"/>
            <a:ext cx="3840480" cy="45720"/>
          </a:xfrm>
          <a:prstGeom prst="rect">
            <a:avLst/>
          </a:prstGeom>
          <a:solidFill>
            <a:srgbClr val="F05A1A"/>
          </a:solidFill>
          <a:ln w="12700">
            <a:solidFill>
              <a:srgbClr val="F05A1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2468880" y="-274320"/>
            <a:ext cx="10515600" cy="7680960"/>
          </a:xfrm>
          <a:prstGeom prst="rect">
            <a:avLst/>
          </a:prstGeom>
          <a:solidFill>
            <a:srgbClr val="101010">
              <a:alpha val="82000"/>
            </a:srgbClr>
          </a:solidFill>
          <a:ln w="12700">
            <a:solidFill>
              <a:srgbClr val="10101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-1325880"/>
            <a:ext cx="4937760" cy="3840480"/>
          </a:xfrm>
          <a:prstGeom prst="ellipse">
            <a:avLst/>
          </a:prstGeom>
          <a:solidFill>
            <a:srgbClr val="F05A1A">
              <a:alpha val="20000"/>
            </a:srgbClr>
          </a:solidFill>
          <a:ln w="12700">
            <a:solidFill>
              <a:srgbClr val="F05A1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-658368"/>
            <a:ext cx="3383280" cy="2468880"/>
          </a:xfrm>
          <a:prstGeom prst="ellipse">
            <a:avLst/>
          </a:prstGeom>
          <a:solidFill>
            <a:srgbClr val="F05A1A">
              <a:alpha val="12000"/>
            </a:srgbClr>
          </a:solidFill>
          <a:ln w="12700">
            <a:solidFill>
              <a:srgbClr val="F05A1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4572000"/>
            <a:ext cx="4389120" cy="2834640"/>
          </a:xfrm>
          <a:prstGeom prst="ellipse">
            <a:avLst/>
          </a:prstGeom>
          <a:solidFill>
            <a:srgbClr val="341609">
              <a:alpha val="24000"/>
            </a:srgbClr>
          </a:solidFill>
          <a:ln w="12700">
            <a:solidFill>
              <a:srgbClr val="34160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5A1A"/>
          </a:solidFill>
          <a:ln w="12700">
            <a:solidFill>
              <a:srgbClr val="F05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05A1A">
              <a:alpha val="45000"/>
            </a:srgbClr>
          </a:solidFill>
          <a:ln w="12700">
            <a:solidFill>
              <a:srgbClr val="F05A1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310896"/>
            <a:ext cx="1097280" cy="18288"/>
          </a:xfrm>
          <a:prstGeom prst="rect">
            <a:avLst/>
          </a:prstGeom>
          <a:solidFill>
            <a:srgbClr val="F05A1A">
              <a:alpha val="65000"/>
            </a:srgbClr>
          </a:solidFill>
          <a:ln w="12700">
            <a:solidFill>
              <a:srgbClr val="F05A1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3891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5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 / SAM / SOM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Tamanho de oportunidade antes da verba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1426464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cliente entende por que existe mercado antes de discutir campanha.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234440" y="2221992"/>
            <a:ext cx="3200400" cy="3200400"/>
          </a:xfrm>
          <a:prstGeom prst="ellipse">
            <a:avLst/>
          </a:prstGeom>
          <a:solidFill>
            <a:srgbClr val="4A4A4A">
              <a:alpha val="62000"/>
            </a:srgbClr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97380" y="2839212"/>
            <a:ext cx="2331720" cy="2331720"/>
          </a:xfrm>
          <a:prstGeom prst="ellipse">
            <a:avLst/>
          </a:prstGeom>
          <a:solidFill>
            <a:srgbClr val="682F17">
              <a:alpha val="62000"/>
            </a:srgbClr>
          </a:solidFill>
          <a:ln w="12700">
            <a:solidFill>
              <a:srgbClr val="F05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37460" y="3433572"/>
            <a:ext cx="1508760" cy="1508760"/>
          </a:xfrm>
          <a:prstGeom prst="ellipse">
            <a:avLst/>
          </a:prstGeom>
          <a:solidFill>
            <a:srgbClr val="F05A1A">
              <a:alpha val="82000"/>
            </a:srgbClr>
          </a:solidFill>
          <a:ln w="12700">
            <a:solidFill>
              <a:srgbClr val="F05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97880" y="1993392"/>
            <a:ext cx="5440680" cy="896112"/>
          </a:xfrm>
          <a:prstGeom prst="roundRect">
            <a:avLst>
              <a:gd name="adj" fmla="val 9184"/>
            </a:avLst>
          </a:prstGeom>
          <a:solidFill>
            <a:srgbClr val="2F1D16"/>
          </a:solidFill>
          <a:ln w="12700">
            <a:solidFill>
              <a:srgbClr val="5A3C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17336" y="215798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8732520" y="210312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17336" y="2487168"/>
            <a:ext cx="4956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Pessoas com demanda potencial na regiao ampliada.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5897880" y="3108960"/>
            <a:ext cx="5440680" cy="896112"/>
          </a:xfrm>
          <a:prstGeom prst="roundRect">
            <a:avLst>
              <a:gd name="adj" fmla="val 9184"/>
            </a:avLst>
          </a:prstGeom>
          <a:solidFill>
            <a:srgbClr val="2F1D16"/>
          </a:solidFill>
          <a:ln w="12700">
            <a:solidFill>
              <a:srgbClr val="5A3C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17336" y="32735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8732520" y="32186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7.2k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17336" y="3602736"/>
            <a:ext cx="4956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Publico alcancavel com midia e conteudo local.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897880" y="4224528"/>
            <a:ext cx="5440680" cy="896112"/>
          </a:xfrm>
          <a:prstGeom prst="roundRect">
            <a:avLst>
              <a:gd name="adj" fmla="val 9184"/>
            </a:avLst>
          </a:prstGeom>
          <a:solidFill>
            <a:srgbClr val="452416"/>
          </a:solidFill>
          <a:ln w="12700">
            <a:solidFill>
              <a:srgbClr val="5A3C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17336" y="43891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05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8732520" y="43342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420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117336" y="4718304"/>
            <a:ext cx="4956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realista de leads qualificados no ciclo inicial.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566928" y="5687568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3C2116"/>
          </a:solidFill>
          <a:ln w="12700">
            <a:solidFill>
              <a:srgbClr val="653E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843016"/>
            <a:ext cx="105457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Comecar pelo mercado evita que a verba pareca chute.</a:t>
            </a:r>
            <a:endParaRPr lang="en-US" sz="12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2468880" y="-274320"/>
            <a:ext cx="10515600" cy="7680960"/>
          </a:xfrm>
          <a:prstGeom prst="rect">
            <a:avLst/>
          </a:prstGeom>
          <a:solidFill>
            <a:srgbClr val="101010">
              <a:alpha val="82000"/>
            </a:srgbClr>
          </a:solidFill>
          <a:ln w="12700">
            <a:solidFill>
              <a:srgbClr val="10101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-1325880"/>
            <a:ext cx="4937760" cy="3840480"/>
          </a:xfrm>
          <a:prstGeom prst="ellipse">
            <a:avLst/>
          </a:prstGeom>
          <a:solidFill>
            <a:srgbClr val="F05A1A">
              <a:alpha val="20000"/>
            </a:srgbClr>
          </a:solidFill>
          <a:ln w="12700">
            <a:solidFill>
              <a:srgbClr val="F05A1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-658368"/>
            <a:ext cx="3383280" cy="2468880"/>
          </a:xfrm>
          <a:prstGeom prst="ellipse">
            <a:avLst/>
          </a:prstGeom>
          <a:solidFill>
            <a:srgbClr val="F05A1A">
              <a:alpha val="12000"/>
            </a:srgbClr>
          </a:solidFill>
          <a:ln w="12700">
            <a:solidFill>
              <a:srgbClr val="F05A1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4572000"/>
            <a:ext cx="4389120" cy="2834640"/>
          </a:xfrm>
          <a:prstGeom prst="ellipse">
            <a:avLst/>
          </a:prstGeom>
          <a:solidFill>
            <a:srgbClr val="341609">
              <a:alpha val="24000"/>
            </a:srgbClr>
          </a:solidFill>
          <a:ln w="12700">
            <a:solidFill>
              <a:srgbClr val="34160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5A1A"/>
          </a:solidFill>
          <a:ln w="12700">
            <a:solidFill>
              <a:srgbClr val="F05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05A1A">
              <a:alpha val="45000"/>
            </a:srgbClr>
          </a:solidFill>
          <a:ln w="12700">
            <a:solidFill>
              <a:srgbClr val="F05A1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310896"/>
            <a:ext cx="1097280" cy="18288"/>
          </a:xfrm>
          <a:prstGeom prst="rect">
            <a:avLst/>
          </a:prstGeom>
          <a:solidFill>
            <a:srgbClr val="F05A1A">
              <a:alpha val="65000"/>
            </a:srgbClr>
          </a:solidFill>
          <a:ln w="12700">
            <a:solidFill>
              <a:srgbClr val="F05A1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3891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5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MAPA COMPETITIVO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Lacuna competitiva que vira posicionamento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1426464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Comparacao simples entre presenca local e agressividade digital.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011680"/>
            <a:ext cx="5413248" cy="3246120"/>
          </a:xfrm>
          <a:prstGeom prst="roundRect">
            <a:avLst>
              <a:gd name="adj" fmla="val 2817"/>
            </a:avLst>
          </a:prstGeom>
          <a:solidFill>
            <a:srgbClr val="2F1D16"/>
          </a:solidFill>
          <a:ln w="12700">
            <a:solidFill>
              <a:srgbClr val="43434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011680"/>
            <a:ext cx="5413248" cy="64008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304288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Locais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841248" y="2889504"/>
            <a:ext cx="73152" cy="73152"/>
          </a:xfrm>
          <a:prstGeom prst="ellips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816352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 reputacao offline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1248" y="3328416"/>
            <a:ext cx="73152" cy="73152"/>
          </a:xfrm>
          <a:prstGeom prst="ellips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255264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Pouca clareza de oferta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41248" y="3767328"/>
            <a:ext cx="73152" cy="73152"/>
          </a:xfrm>
          <a:prstGeom prst="ellips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694176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Baixa captura digital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63056" y="2011680"/>
            <a:ext cx="5413248" cy="3246120"/>
          </a:xfrm>
          <a:prstGeom prst="roundRect">
            <a:avLst>
              <a:gd name="adj" fmla="val 2817"/>
            </a:avLst>
          </a:prstGeom>
          <a:solidFill>
            <a:srgbClr val="3C2116"/>
          </a:solidFill>
          <a:ln w="12700">
            <a:solidFill>
              <a:srgbClr val="5D3C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63056" y="2011680"/>
            <a:ext cx="5413248" cy="64008"/>
          </a:xfrm>
          <a:prstGeom prst="rect">
            <a:avLst/>
          </a:prstGeom>
          <a:solidFill>
            <a:srgbClr val="F05A1A"/>
          </a:solidFill>
          <a:ln w="12700">
            <a:solidFill>
              <a:srgbClr val="F05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2304288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Digitais</a:t>
            </a:r>
            <a:endParaRPr lang="en-US" sz="1430" dirty="0"/>
          </a:p>
        </p:txBody>
      </p:sp>
      <p:sp>
        <p:nvSpPr>
          <p:cNvPr id="25" name="Shape 23"/>
          <p:cNvSpPr/>
          <p:nvPr/>
        </p:nvSpPr>
        <p:spPr>
          <a:xfrm>
            <a:off x="6437376" y="2889504"/>
            <a:ext cx="73152" cy="73152"/>
          </a:xfrm>
          <a:prstGeom prst="ellipse">
            <a:avLst/>
          </a:prstGeom>
          <a:solidFill>
            <a:srgbClr val="F05A1A"/>
          </a:solidFill>
          <a:ln w="12700">
            <a:solidFill>
              <a:srgbClr val="F05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01968" y="2816352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Compram atencao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37376" y="3328416"/>
            <a:ext cx="73152" cy="73152"/>
          </a:xfrm>
          <a:prstGeom prst="ellipse">
            <a:avLst/>
          </a:prstGeom>
          <a:solidFill>
            <a:srgbClr val="F05A1A"/>
          </a:solidFill>
          <a:ln w="12700">
            <a:solidFill>
              <a:srgbClr val="F05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01968" y="3255264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Usam promessa direta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37376" y="3767328"/>
            <a:ext cx="73152" cy="73152"/>
          </a:xfrm>
          <a:prstGeom prst="ellipse">
            <a:avLst/>
          </a:prstGeom>
          <a:solidFill>
            <a:srgbClr val="F05A1A"/>
          </a:solidFill>
          <a:ln w="12700">
            <a:solidFill>
              <a:srgbClr val="F05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01968" y="3694176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Dominam busca e remarketing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5605272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3C2116"/>
          </a:solidFill>
          <a:ln w="12700">
            <a:solidFill>
              <a:srgbClr val="653E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760720"/>
            <a:ext cx="105457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oportunidade e ocupar o meio: confianca local com maquina digital.</a:t>
            </a:r>
            <a:endParaRPr lang="en-US" sz="12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2468880" y="-274320"/>
            <a:ext cx="10515600" cy="7680960"/>
          </a:xfrm>
          <a:prstGeom prst="rect">
            <a:avLst/>
          </a:prstGeom>
          <a:solidFill>
            <a:srgbClr val="101010">
              <a:alpha val="82000"/>
            </a:srgbClr>
          </a:solidFill>
          <a:ln w="12700">
            <a:solidFill>
              <a:srgbClr val="10101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-1325880"/>
            <a:ext cx="4937760" cy="3840480"/>
          </a:xfrm>
          <a:prstGeom prst="ellipse">
            <a:avLst/>
          </a:prstGeom>
          <a:solidFill>
            <a:srgbClr val="F05A1A">
              <a:alpha val="20000"/>
            </a:srgbClr>
          </a:solidFill>
          <a:ln w="12700">
            <a:solidFill>
              <a:srgbClr val="F05A1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-658368"/>
            <a:ext cx="3383280" cy="2468880"/>
          </a:xfrm>
          <a:prstGeom prst="ellipse">
            <a:avLst/>
          </a:prstGeom>
          <a:solidFill>
            <a:srgbClr val="F05A1A">
              <a:alpha val="12000"/>
            </a:srgbClr>
          </a:solidFill>
          <a:ln w="12700">
            <a:solidFill>
              <a:srgbClr val="F05A1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4572000"/>
            <a:ext cx="4389120" cy="2834640"/>
          </a:xfrm>
          <a:prstGeom prst="ellipse">
            <a:avLst/>
          </a:prstGeom>
          <a:solidFill>
            <a:srgbClr val="341609">
              <a:alpha val="24000"/>
            </a:srgbClr>
          </a:solidFill>
          <a:ln w="12700">
            <a:solidFill>
              <a:srgbClr val="34160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5A1A"/>
          </a:solidFill>
          <a:ln w="12700">
            <a:solidFill>
              <a:srgbClr val="F05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05A1A">
              <a:alpha val="45000"/>
            </a:srgbClr>
          </a:solidFill>
          <a:ln w="12700">
            <a:solidFill>
              <a:srgbClr val="F05A1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310896"/>
            <a:ext cx="1097280" cy="18288"/>
          </a:xfrm>
          <a:prstGeom prst="rect">
            <a:avLst/>
          </a:prstGeom>
          <a:solidFill>
            <a:srgbClr val="F05A1A">
              <a:alpha val="65000"/>
            </a:srgbClr>
          </a:solidFill>
          <a:ln w="12700">
            <a:solidFill>
              <a:srgbClr val="F05A1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3891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5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DISTRIBUICAO DE MIDIA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Duas velocidades de investimento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1426464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mesmo sistema muda de ritmo quando a verba sobe.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066544"/>
            <a:ext cx="5440680" cy="3474720"/>
          </a:xfrm>
          <a:prstGeom prst="roundRect">
            <a:avLst>
              <a:gd name="adj" fmla="val 2632"/>
            </a:avLst>
          </a:prstGeom>
          <a:solidFill>
            <a:srgbClr val="2F1D16"/>
          </a:solidFill>
          <a:ln w="12700">
            <a:solidFill>
              <a:srgbClr val="3B3B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066544"/>
            <a:ext cx="544068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3591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Cenario de entrada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3493008" y="22677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R$ 3k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22960" y="278892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Validar mensagens e gerar aprendizado sem forcar escala.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822960" y="3310128"/>
            <a:ext cx="2322576" cy="896112"/>
          </a:xfrm>
          <a:prstGeom prst="roundRect">
            <a:avLst>
              <a:gd name="adj" fmla="val 8163"/>
            </a:avLst>
          </a:prstGeom>
          <a:solidFill>
            <a:srgbClr val="1A2A44"/>
          </a:solidFill>
          <a:ln w="12700">
            <a:solidFill>
              <a:srgbClr val="33456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310128"/>
            <a:ext cx="2322576" cy="54864"/>
          </a:xfrm>
          <a:prstGeom prst="rect">
            <a:avLst/>
          </a:prstGeom>
          <a:solidFill>
            <a:srgbClr val="2F7CFF"/>
          </a:solidFill>
          <a:ln w="12700">
            <a:solidFill>
              <a:srgbClr val="2F7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34930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Ads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1783080" y="345643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R$ 1.800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9264" y="3840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60% - Demanda latente</a:t>
            </a:r>
            <a:endParaRPr lang="en-US" sz="890" dirty="0"/>
          </a:p>
        </p:txBody>
      </p:sp>
      <p:sp>
        <p:nvSpPr>
          <p:cNvPr id="23" name="Shape 21"/>
          <p:cNvSpPr/>
          <p:nvPr/>
        </p:nvSpPr>
        <p:spPr>
          <a:xfrm>
            <a:off x="3346704" y="3310128"/>
            <a:ext cx="2322576" cy="896112"/>
          </a:xfrm>
          <a:prstGeom prst="roundRect">
            <a:avLst>
              <a:gd name="adj" fmla="val 8163"/>
            </a:avLst>
          </a:prstGeom>
          <a:solidFill>
            <a:srgbClr val="443411"/>
          </a:solidFill>
          <a:ln w="12700">
            <a:solidFill>
              <a:srgbClr val="6552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46704" y="3310128"/>
            <a:ext cx="2322576" cy="54864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34930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Ads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4306824" y="345643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R$ 1.200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493008" y="3840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40% - Intencao ativa</a:t>
            </a:r>
            <a:endParaRPr lang="en-US" sz="890" dirty="0"/>
          </a:p>
        </p:txBody>
      </p:sp>
      <p:sp>
        <p:nvSpPr>
          <p:cNvPr id="28" name="Shape 26"/>
          <p:cNvSpPr/>
          <p:nvPr/>
        </p:nvSpPr>
        <p:spPr>
          <a:xfrm>
            <a:off x="841248" y="4526280"/>
            <a:ext cx="64008" cy="64008"/>
          </a:xfrm>
          <a:prstGeom prst="ellipse">
            <a:avLst/>
          </a:prstGeom>
          <a:solidFill>
            <a:srgbClr val="F05A1A"/>
          </a:solidFill>
          <a:ln w="12700">
            <a:solidFill>
              <a:srgbClr val="F05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445312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Menos volume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841248" y="4837176"/>
            <a:ext cx="64008" cy="64008"/>
          </a:xfrm>
          <a:prstGeom prst="ellipse">
            <a:avLst/>
          </a:prstGeom>
          <a:solidFill>
            <a:srgbClr val="F05A1A"/>
          </a:solidFill>
          <a:ln w="12700">
            <a:solidFill>
              <a:srgbClr val="F05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476402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Mais controle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841248" y="5148072"/>
            <a:ext cx="64008" cy="64008"/>
          </a:xfrm>
          <a:prstGeom prst="ellipse">
            <a:avLst/>
          </a:prstGeom>
          <a:solidFill>
            <a:srgbClr val="F05A1A"/>
          </a:solidFill>
          <a:ln w="12700">
            <a:solidFill>
              <a:srgbClr val="F05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507492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 leitura inicial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6172200" y="2066544"/>
            <a:ext cx="5440680" cy="3474720"/>
          </a:xfrm>
          <a:prstGeom prst="roundRect">
            <a:avLst>
              <a:gd name="adj" fmla="val 2632"/>
            </a:avLst>
          </a:prstGeom>
          <a:solidFill>
            <a:srgbClr val="4A2616"/>
          </a:solidFill>
          <a:ln w="12700">
            <a:solidFill>
              <a:srgbClr val="5D3C2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2200" y="2066544"/>
            <a:ext cx="5440680" cy="73152"/>
          </a:xfrm>
          <a:prstGeom prst="rect">
            <a:avLst/>
          </a:prstGeom>
          <a:solidFill>
            <a:srgbClr val="F05A1A"/>
          </a:solidFill>
          <a:ln w="12700">
            <a:solidFill>
              <a:srgbClr val="F05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8232" y="23591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Cenario recomendado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9098280" y="22677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R$ 6k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6428232" y="278892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Ganhar volume, testar criativos e sustentar remarketing.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6428232" y="3310128"/>
            <a:ext cx="2322576" cy="896112"/>
          </a:xfrm>
          <a:prstGeom prst="roundRect">
            <a:avLst>
              <a:gd name="adj" fmla="val 8163"/>
            </a:avLst>
          </a:prstGeom>
          <a:solidFill>
            <a:srgbClr val="1A2A44"/>
          </a:solidFill>
          <a:ln w="12700">
            <a:solidFill>
              <a:srgbClr val="33456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28232" y="3310128"/>
            <a:ext cx="2322576" cy="54864"/>
          </a:xfrm>
          <a:prstGeom prst="rect">
            <a:avLst/>
          </a:prstGeom>
          <a:solidFill>
            <a:srgbClr val="2F7CFF"/>
          </a:solidFill>
          <a:ln w="12700">
            <a:solidFill>
              <a:srgbClr val="2F7C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74536" y="34930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Ads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7388352" y="345643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R$ 3.300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74536" y="3840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55% - Topo e prova</a:t>
            </a:r>
            <a:endParaRPr lang="en-US" sz="890" dirty="0"/>
          </a:p>
        </p:txBody>
      </p:sp>
      <p:sp>
        <p:nvSpPr>
          <p:cNvPr id="44" name="Shape 42"/>
          <p:cNvSpPr/>
          <p:nvPr/>
        </p:nvSpPr>
        <p:spPr>
          <a:xfrm>
            <a:off x="8951976" y="3310128"/>
            <a:ext cx="2322576" cy="896112"/>
          </a:xfrm>
          <a:prstGeom prst="roundRect">
            <a:avLst>
              <a:gd name="adj" fmla="val 8163"/>
            </a:avLst>
          </a:prstGeom>
          <a:solidFill>
            <a:srgbClr val="443411"/>
          </a:solidFill>
          <a:ln w="12700">
            <a:solidFill>
              <a:srgbClr val="65522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51976" y="3310128"/>
            <a:ext cx="2322576" cy="54864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98280" y="34930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Ads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9912096" y="345643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R$ 2.700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098280" y="3840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 - Captura de demanda</a:t>
            </a:r>
            <a:endParaRPr lang="en-US" sz="890" dirty="0"/>
          </a:p>
        </p:txBody>
      </p:sp>
      <p:sp>
        <p:nvSpPr>
          <p:cNvPr id="49" name="Shape 47"/>
          <p:cNvSpPr/>
          <p:nvPr/>
        </p:nvSpPr>
        <p:spPr>
          <a:xfrm>
            <a:off x="6446520" y="4526280"/>
            <a:ext cx="64008" cy="64008"/>
          </a:xfrm>
          <a:prstGeom prst="ellipse">
            <a:avLst/>
          </a:prstGeom>
          <a:solidFill>
            <a:srgbClr val="F05A1A"/>
          </a:solidFill>
          <a:ln w="12700">
            <a:solidFill>
              <a:srgbClr val="F05A1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11112" y="445312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Mais aprendizado</a:t>
            </a:r>
            <a:endParaRPr lang="en-US" sz="930" dirty="0"/>
          </a:p>
        </p:txBody>
      </p:sp>
      <p:sp>
        <p:nvSpPr>
          <p:cNvPr id="51" name="Shape 49"/>
          <p:cNvSpPr/>
          <p:nvPr/>
        </p:nvSpPr>
        <p:spPr>
          <a:xfrm>
            <a:off x="6446520" y="4837176"/>
            <a:ext cx="64008" cy="64008"/>
          </a:xfrm>
          <a:prstGeom prst="ellipse">
            <a:avLst/>
          </a:prstGeom>
          <a:solidFill>
            <a:srgbClr val="F05A1A"/>
          </a:solidFill>
          <a:ln w="12700">
            <a:solidFill>
              <a:srgbClr val="F05A1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11112" y="476402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Mais criativos</a:t>
            </a:r>
            <a:endParaRPr lang="en-US" sz="930" dirty="0"/>
          </a:p>
        </p:txBody>
      </p:sp>
      <p:sp>
        <p:nvSpPr>
          <p:cNvPr id="53" name="Shape 51"/>
          <p:cNvSpPr/>
          <p:nvPr/>
        </p:nvSpPr>
        <p:spPr>
          <a:xfrm>
            <a:off x="6446520" y="5148072"/>
            <a:ext cx="64008" cy="64008"/>
          </a:xfrm>
          <a:prstGeom prst="ellipse">
            <a:avLst/>
          </a:prstGeom>
          <a:solidFill>
            <a:srgbClr val="F05A1A"/>
          </a:solidFill>
          <a:ln w="12700">
            <a:solidFill>
              <a:srgbClr val="F05A1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11112" y="507492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Mais previsibilidade</a:t>
            </a:r>
            <a:endParaRPr lang="en-US" sz="930" dirty="0"/>
          </a:p>
        </p:txBody>
      </p:sp>
      <p:sp>
        <p:nvSpPr>
          <p:cNvPr id="55" name="Shape 53"/>
          <p:cNvSpPr/>
          <p:nvPr/>
        </p:nvSpPr>
        <p:spPr>
          <a:xfrm>
            <a:off x="566928" y="5715000"/>
            <a:ext cx="11057839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8096" y="5843016"/>
            <a:ext cx="106555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escala comercial, 6k entrega velocidade que 3k nao sustenta.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2468880" y="-274320"/>
            <a:ext cx="10515600" cy="7680960"/>
          </a:xfrm>
          <a:prstGeom prst="rect">
            <a:avLst/>
          </a:prstGeom>
          <a:solidFill>
            <a:srgbClr val="101010">
              <a:alpha val="82000"/>
            </a:srgbClr>
          </a:solidFill>
          <a:ln w="12700">
            <a:solidFill>
              <a:srgbClr val="10101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-1325880"/>
            <a:ext cx="4937760" cy="3840480"/>
          </a:xfrm>
          <a:prstGeom prst="ellipse">
            <a:avLst/>
          </a:prstGeom>
          <a:solidFill>
            <a:srgbClr val="F05A1A">
              <a:alpha val="20000"/>
            </a:srgbClr>
          </a:solidFill>
          <a:ln w="12700">
            <a:solidFill>
              <a:srgbClr val="F05A1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-658368"/>
            <a:ext cx="3383280" cy="2468880"/>
          </a:xfrm>
          <a:prstGeom prst="ellipse">
            <a:avLst/>
          </a:prstGeom>
          <a:solidFill>
            <a:srgbClr val="F05A1A">
              <a:alpha val="12000"/>
            </a:srgbClr>
          </a:solidFill>
          <a:ln w="12700">
            <a:solidFill>
              <a:srgbClr val="F05A1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4572000"/>
            <a:ext cx="4389120" cy="2834640"/>
          </a:xfrm>
          <a:prstGeom prst="ellipse">
            <a:avLst/>
          </a:prstGeom>
          <a:solidFill>
            <a:srgbClr val="341609">
              <a:alpha val="24000"/>
            </a:srgbClr>
          </a:solidFill>
          <a:ln w="12700">
            <a:solidFill>
              <a:srgbClr val="34160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5A1A"/>
          </a:solidFill>
          <a:ln w="12700">
            <a:solidFill>
              <a:srgbClr val="F05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05A1A">
              <a:alpha val="45000"/>
            </a:srgbClr>
          </a:solidFill>
          <a:ln w="12700">
            <a:solidFill>
              <a:srgbClr val="F05A1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310896"/>
            <a:ext cx="1097280" cy="18288"/>
          </a:xfrm>
          <a:prstGeom prst="rect">
            <a:avLst/>
          </a:prstGeom>
          <a:solidFill>
            <a:srgbClr val="F05A1A">
              <a:alpha val="65000"/>
            </a:srgbClr>
          </a:solidFill>
          <a:ln w="12700">
            <a:solidFill>
              <a:srgbClr val="F05A1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3891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5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DRAWFLOW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Jornada nativa desenhada para o cliente entender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1426464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Nodes e setas precisam ser editaveis no Google Slides.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21378" y="2423160"/>
            <a:ext cx="702168" cy="0"/>
          </a:xfrm>
          <a:prstGeom prst="line">
            <a:avLst/>
          </a:prstGeom>
          <a:noFill/>
          <a:ln w="17780">
            <a:solidFill>
              <a:srgbClr val="F05A1A">
                <a:alpha val="94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835225" y="2423160"/>
            <a:ext cx="702168" cy="0"/>
          </a:xfrm>
          <a:prstGeom prst="line">
            <a:avLst/>
          </a:prstGeom>
          <a:noFill/>
          <a:ln w="17780">
            <a:solidFill>
              <a:srgbClr val="F05A1A">
                <a:alpha val="94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37393" y="2423160"/>
            <a:ext cx="-1968630" cy="1472184"/>
          </a:xfrm>
          <a:prstGeom prst="line">
            <a:avLst/>
          </a:prstGeom>
          <a:noFill/>
          <a:ln w="17780">
            <a:solidFill>
              <a:srgbClr val="F05A1A">
                <a:alpha val="94000"/>
              </a:srgbClr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141598" y="304952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7543233" y="2779776"/>
            <a:ext cx="-180923" cy="758952"/>
          </a:xfrm>
          <a:prstGeom prst="line">
            <a:avLst/>
          </a:prstGeom>
          <a:noFill/>
          <a:ln w="17780">
            <a:solidFill>
              <a:srgbClr val="F05A1A">
                <a:alpha val="94000"/>
              </a:srgbClr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041291" y="304952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nao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1109698" y="2066544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182233"/>
          </a:solidFill>
          <a:ln w="12700">
            <a:solidFill>
              <a:srgbClr val="33456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9698" y="2066544"/>
            <a:ext cx="2011680" cy="41148"/>
          </a:xfrm>
          <a:prstGeom prst="rect">
            <a:avLst/>
          </a:prstGeom>
          <a:solidFill>
            <a:srgbClr val="2F7CFF"/>
          </a:solidFill>
          <a:ln w="12700">
            <a:solidFill>
              <a:srgbClr val="2F7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7714" y="221284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Trafego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1237714" y="249631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+ Google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3823545" y="2066544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311E16"/>
          </a:solidFill>
          <a:ln w="12700">
            <a:solidFill>
              <a:srgbClr val="613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23545" y="2066544"/>
            <a:ext cx="2011680" cy="41148"/>
          </a:xfrm>
          <a:prstGeom prst="rect">
            <a:avLst/>
          </a:prstGeom>
          <a:solidFill>
            <a:srgbClr val="F05A1A"/>
          </a:solidFill>
          <a:ln w="12700">
            <a:solidFill>
              <a:srgbClr val="F05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51561" y="221284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Landing Page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3951561" y="249631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Promessa + formulario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6537393" y="2066544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172B20"/>
          </a:solidFill>
          <a:ln w="12700">
            <a:solidFill>
              <a:srgbClr val="2F564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393" y="2066544"/>
            <a:ext cx="2011680" cy="41148"/>
          </a:xfrm>
          <a:prstGeom prst="rect">
            <a:avLst/>
          </a:prstGeom>
          <a:solidFill>
            <a:srgbClr val="21C26B"/>
          </a:solidFill>
          <a:ln w="12700">
            <a:solidFill>
              <a:srgbClr val="21C2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65409" y="221284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WhatsApp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6665409" y="249631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Resposta em ate 5 min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2557083" y="3538728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311E16"/>
          </a:solidFill>
          <a:ln w="12700">
            <a:solidFill>
              <a:srgbClr val="613D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57083" y="3538728"/>
            <a:ext cx="2011680" cy="41148"/>
          </a:xfrm>
          <a:prstGeom prst="rect">
            <a:avLst/>
          </a:prstGeom>
          <a:solidFill>
            <a:srgbClr val="F05A1A"/>
          </a:solidFill>
          <a:ln w="12700">
            <a:solidFill>
              <a:srgbClr val="F05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85099" y="368503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Triagem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2685099" y="396849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Qualifica e agenda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6356470" y="3538728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311E16"/>
          </a:solidFill>
          <a:ln w="12700">
            <a:solidFill>
              <a:srgbClr val="613D2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56470" y="3538728"/>
            <a:ext cx="2011680" cy="41148"/>
          </a:xfrm>
          <a:prstGeom prst="rect">
            <a:avLst/>
          </a:prstGeom>
          <a:solidFill>
            <a:srgbClr val="F05A1A"/>
          </a:solidFill>
          <a:ln w="12700">
            <a:solidFill>
              <a:srgbClr val="F05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84486" y="368503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Nutricao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6484486" y="396849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D3, D5 e D7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566928" y="5815584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3C2116"/>
          </a:solidFill>
          <a:ln w="12700">
            <a:solidFill>
              <a:srgbClr val="653E2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5971032"/>
            <a:ext cx="105457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o drawflow nao estiver nitido, o cliente nao compra a operacao.</a:t>
            </a:r>
            <a:endParaRPr lang="en-US" sz="12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2468880" y="-274320"/>
            <a:ext cx="10515600" cy="7680960"/>
          </a:xfrm>
          <a:prstGeom prst="rect">
            <a:avLst/>
          </a:prstGeom>
          <a:solidFill>
            <a:srgbClr val="101010">
              <a:alpha val="82000"/>
            </a:srgbClr>
          </a:solidFill>
          <a:ln w="12700">
            <a:solidFill>
              <a:srgbClr val="10101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-1325880"/>
            <a:ext cx="4937760" cy="3840480"/>
          </a:xfrm>
          <a:prstGeom prst="ellipse">
            <a:avLst/>
          </a:prstGeom>
          <a:solidFill>
            <a:srgbClr val="F05A1A">
              <a:alpha val="20000"/>
            </a:srgbClr>
          </a:solidFill>
          <a:ln w="12700">
            <a:solidFill>
              <a:srgbClr val="F05A1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-658368"/>
            <a:ext cx="3383280" cy="2468880"/>
          </a:xfrm>
          <a:prstGeom prst="ellipse">
            <a:avLst/>
          </a:prstGeom>
          <a:solidFill>
            <a:srgbClr val="F05A1A">
              <a:alpha val="12000"/>
            </a:srgbClr>
          </a:solidFill>
          <a:ln w="12700">
            <a:solidFill>
              <a:srgbClr val="F05A1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4572000"/>
            <a:ext cx="4389120" cy="2834640"/>
          </a:xfrm>
          <a:prstGeom prst="ellipse">
            <a:avLst/>
          </a:prstGeom>
          <a:solidFill>
            <a:srgbClr val="341609">
              <a:alpha val="24000"/>
            </a:srgbClr>
          </a:solidFill>
          <a:ln w="12700">
            <a:solidFill>
              <a:srgbClr val="34160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5A1A"/>
          </a:solidFill>
          <a:ln w="12700">
            <a:solidFill>
              <a:srgbClr val="F05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05A1A">
              <a:alpha val="45000"/>
            </a:srgbClr>
          </a:solidFill>
          <a:ln w="12700">
            <a:solidFill>
              <a:srgbClr val="F05A1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310896"/>
            <a:ext cx="1097280" cy="18288"/>
          </a:xfrm>
          <a:prstGeom prst="rect">
            <a:avLst/>
          </a:prstGeom>
          <a:solidFill>
            <a:srgbClr val="F05A1A">
              <a:alpha val="65000"/>
            </a:srgbClr>
          </a:solidFill>
          <a:ln w="12700">
            <a:solidFill>
              <a:srgbClr val="F05A1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3891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5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PROJECAO DE ROI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ROI vira painel, nao paragrafo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1426464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Verba, CPL, contratos e receita precisam conversar visualmente.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1938528"/>
            <a:ext cx="2641016" cy="1261872"/>
          </a:xfrm>
          <a:prstGeom prst="roundRect">
            <a:avLst>
              <a:gd name="adj" fmla="val 6522"/>
            </a:avLst>
          </a:prstGeom>
          <a:solidFill>
            <a:srgbClr val="2F1D16"/>
          </a:solidFill>
          <a:ln w="12700">
            <a:solidFill>
              <a:srgbClr val="5A3C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176272"/>
            <a:ext cx="227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Investimento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749808" y="2487168"/>
            <a:ext cx="227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R$ 6k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3372536" y="1938528"/>
            <a:ext cx="2641016" cy="1261872"/>
          </a:xfrm>
          <a:prstGeom prst="roundRect">
            <a:avLst>
              <a:gd name="adj" fmla="val 6522"/>
            </a:avLst>
          </a:prstGeom>
          <a:solidFill>
            <a:srgbClr val="2F1D16"/>
          </a:solidFill>
          <a:ln w="12700">
            <a:solidFill>
              <a:srgbClr val="5A3C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55416" y="2176272"/>
            <a:ext cx="227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CPL alvo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3555416" y="2487168"/>
            <a:ext cx="227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R$ 45</a:t>
            </a:r>
            <a:endParaRPr lang="en-US" sz="1850" dirty="0"/>
          </a:p>
        </p:txBody>
      </p:sp>
      <p:sp>
        <p:nvSpPr>
          <p:cNvPr id="19" name="Shape 17"/>
          <p:cNvSpPr/>
          <p:nvPr/>
        </p:nvSpPr>
        <p:spPr>
          <a:xfrm>
            <a:off x="6178144" y="1938528"/>
            <a:ext cx="2641016" cy="1261872"/>
          </a:xfrm>
          <a:prstGeom prst="roundRect">
            <a:avLst>
              <a:gd name="adj" fmla="val 6522"/>
            </a:avLst>
          </a:prstGeom>
          <a:solidFill>
            <a:srgbClr val="2F1D16"/>
          </a:solidFill>
          <a:ln w="12700">
            <a:solidFill>
              <a:srgbClr val="5A3C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1024" y="2176272"/>
            <a:ext cx="227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Contratos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6361024" y="2487168"/>
            <a:ext cx="227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8-12</a:t>
            </a:r>
            <a:endParaRPr lang="en-US" sz="1850" dirty="0"/>
          </a:p>
        </p:txBody>
      </p:sp>
      <p:sp>
        <p:nvSpPr>
          <p:cNvPr id="22" name="Shape 20"/>
          <p:cNvSpPr/>
          <p:nvPr/>
        </p:nvSpPr>
        <p:spPr>
          <a:xfrm>
            <a:off x="8983751" y="1938528"/>
            <a:ext cx="2641016" cy="1261872"/>
          </a:xfrm>
          <a:prstGeom prst="roundRect">
            <a:avLst>
              <a:gd name="adj" fmla="val 6522"/>
            </a:avLst>
          </a:prstGeom>
          <a:solidFill>
            <a:srgbClr val="452416"/>
          </a:solidFill>
          <a:ln w="12700">
            <a:solidFill>
              <a:srgbClr val="5A3C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66631" y="2176272"/>
            <a:ext cx="227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potencial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9166631" y="2487168"/>
            <a:ext cx="227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05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R$ 48k+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566928" y="36576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Aprendizado de criativos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2788920" y="3685032"/>
            <a:ext cx="6583680" cy="146304"/>
          </a:xfrm>
          <a:prstGeom prst="roundRect">
            <a:avLst>
              <a:gd name="adj" fmla="val 4375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88920" y="3685032"/>
            <a:ext cx="4740250" cy="146304"/>
          </a:xfrm>
          <a:prstGeom prst="roundRect">
            <a:avLst>
              <a:gd name="adj" fmla="val 43750"/>
            </a:avLst>
          </a:prstGeom>
          <a:solidFill>
            <a:srgbClr val="F05A1A"/>
          </a:solidFill>
          <a:ln w="12700">
            <a:solidFill>
              <a:srgbClr val="F05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55480" y="363931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alto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566928" y="40965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Captura de intencao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2788920" y="4123944"/>
            <a:ext cx="6583680" cy="146304"/>
          </a:xfrm>
          <a:prstGeom prst="roundRect">
            <a:avLst>
              <a:gd name="adj" fmla="val 4375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88920" y="4123944"/>
            <a:ext cx="4213555" cy="146304"/>
          </a:xfrm>
          <a:prstGeom prst="roundRect">
            <a:avLst>
              <a:gd name="adj" fmla="val 43750"/>
            </a:avLst>
          </a:prstGeom>
          <a:solidFill>
            <a:srgbClr val="F05A1A"/>
          </a:solidFill>
          <a:ln w="12700">
            <a:solidFill>
              <a:srgbClr val="F05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55480" y="407822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medio/alto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566928" y="453542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Remarketing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2788920" y="4562856"/>
            <a:ext cx="6583680" cy="146304"/>
          </a:xfrm>
          <a:prstGeom prst="roundRect">
            <a:avLst>
              <a:gd name="adj" fmla="val 4375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88920" y="4562856"/>
            <a:ext cx="2962656" cy="146304"/>
          </a:xfrm>
          <a:prstGeom prst="roundRect">
            <a:avLst>
              <a:gd name="adj" fmla="val 43750"/>
            </a:avLst>
          </a:prstGeom>
          <a:solidFill>
            <a:srgbClr val="F05A1A"/>
          </a:solidFill>
          <a:ln w="12700">
            <a:solidFill>
              <a:srgbClr val="F05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55480" y="45171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 construcao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566928" y="5614416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3C2116"/>
          </a:solidFill>
          <a:ln w="12700">
            <a:solidFill>
              <a:srgbClr val="653E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5769864"/>
            <a:ext cx="105457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investimento faz sentido quando a maquina fecha o ciclo ate contrato.</a:t>
            </a:r>
            <a:endParaRPr lang="en-US" sz="12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2468880" y="-274320"/>
            <a:ext cx="10515600" cy="7680960"/>
          </a:xfrm>
          <a:prstGeom prst="rect">
            <a:avLst/>
          </a:prstGeom>
          <a:solidFill>
            <a:srgbClr val="101010">
              <a:alpha val="82000"/>
            </a:srgbClr>
          </a:solidFill>
          <a:ln w="12700">
            <a:solidFill>
              <a:srgbClr val="10101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-1325880"/>
            <a:ext cx="4937760" cy="3840480"/>
          </a:xfrm>
          <a:prstGeom prst="ellipse">
            <a:avLst/>
          </a:prstGeom>
          <a:solidFill>
            <a:srgbClr val="F05A1A">
              <a:alpha val="20000"/>
            </a:srgbClr>
          </a:solidFill>
          <a:ln w="12700">
            <a:solidFill>
              <a:srgbClr val="F05A1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-658368"/>
            <a:ext cx="3383280" cy="2468880"/>
          </a:xfrm>
          <a:prstGeom prst="ellipse">
            <a:avLst/>
          </a:prstGeom>
          <a:solidFill>
            <a:srgbClr val="F05A1A">
              <a:alpha val="12000"/>
            </a:srgbClr>
          </a:solidFill>
          <a:ln w="12700">
            <a:solidFill>
              <a:srgbClr val="F05A1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4572000"/>
            <a:ext cx="4389120" cy="2834640"/>
          </a:xfrm>
          <a:prstGeom prst="ellipse">
            <a:avLst/>
          </a:prstGeom>
          <a:solidFill>
            <a:srgbClr val="341609">
              <a:alpha val="24000"/>
            </a:srgbClr>
          </a:solidFill>
          <a:ln w="12700">
            <a:solidFill>
              <a:srgbClr val="34160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5A1A"/>
          </a:solidFill>
          <a:ln w="12700">
            <a:solidFill>
              <a:srgbClr val="F05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05A1A">
              <a:alpha val="45000"/>
            </a:srgbClr>
          </a:solidFill>
          <a:ln w="12700">
            <a:solidFill>
              <a:srgbClr val="F05A1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310896"/>
            <a:ext cx="1097280" cy="18288"/>
          </a:xfrm>
          <a:prstGeom prst="rect">
            <a:avLst/>
          </a:prstGeom>
          <a:solidFill>
            <a:srgbClr val="F05A1A">
              <a:alpha val="65000"/>
            </a:srgbClr>
          </a:solidFill>
          <a:ln w="12700">
            <a:solidFill>
              <a:srgbClr val="F05A1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3891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5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ESCOPO 45 DIAS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Escopo vira execucao em 45 dias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1426464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proposta precisa terminar em plano claro, nao em inspiracao.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1975104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2F1D16"/>
          </a:solidFill>
          <a:ln w="12700">
            <a:solidFill>
              <a:srgbClr val="5D3C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2128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D0-D15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768096" y="25420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Setup, tracking, criativos e CRM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315968" y="1975104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2F1D16"/>
          </a:solidFill>
          <a:ln w="12700">
            <a:solidFill>
              <a:srgbClr val="5D3C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7136" y="22128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D16-D30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4517136" y="25420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Campanhas, rotina e primeiras leituras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065008" y="1975104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412316"/>
          </a:solidFill>
          <a:ln w="12700">
            <a:solidFill>
              <a:srgbClr val="5D3C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6176" y="22128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05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D31-D45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8266176" y="25420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Otimizacao, escala e proxima decisao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566928" y="3337560"/>
            <a:ext cx="3520440" cy="841248"/>
          </a:xfrm>
          <a:prstGeom prst="roundRect">
            <a:avLst>
              <a:gd name="adj" fmla="val 8696"/>
            </a:avLst>
          </a:prstGeom>
          <a:solidFill>
            <a:srgbClr val="2F1D16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483864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Landing page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731520" y="3776472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Oferta e formulario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4315968" y="3337560"/>
            <a:ext cx="3520440" cy="841248"/>
          </a:xfrm>
          <a:prstGeom prst="roundRect">
            <a:avLst>
              <a:gd name="adj" fmla="val 8696"/>
            </a:avLst>
          </a:prstGeom>
          <a:solidFill>
            <a:srgbClr val="2F1D16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3483864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Campanhas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4480560" y="3776472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+ Google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8065008" y="3337560"/>
            <a:ext cx="3520440" cy="841248"/>
          </a:xfrm>
          <a:prstGeom prst="roundRect">
            <a:avLst>
              <a:gd name="adj" fmla="val 8696"/>
            </a:avLst>
          </a:prstGeom>
          <a:solidFill>
            <a:srgbClr val="2F1D16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3483864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Criativos</a:t>
            </a:r>
            <a:endParaRPr lang="en-US" sz="1040" dirty="0"/>
          </a:p>
        </p:txBody>
      </p:sp>
      <p:sp>
        <p:nvSpPr>
          <p:cNvPr id="30" name="Text 28"/>
          <p:cNvSpPr/>
          <p:nvPr/>
        </p:nvSpPr>
        <p:spPr>
          <a:xfrm>
            <a:off x="8229600" y="3776472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Ganchos e provas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566928" y="4389120"/>
            <a:ext cx="3520440" cy="841248"/>
          </a:xfrm>
          <a:prstGeom prst="roundRect">
            <a:avLst>
              <a:gd name="adj" fmla="val 8696"/>
            </a:avLst>
          </a:prstGeom>
          <a:solidFill>
            <a:srgbClr val="2F1D16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535424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CRM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731520" y="4828032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Tags e etapas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4315968" y="4389120"/>
            <a:ext cx="3520440" cy="841248"/>
          </a:xfrm>
          <a:prstGeom prst="roundRect">
            <a:avLst>
              <a:gd name="adj" fmla="val 8696"/>
            </a:avLst>
          </a:prstGeom>
          <a:solidFill>
            <a:srgbClr val="2F1D16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4535424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Rotina</a:t>
            </a:r>
            <a:endParaRPr lang="en-US" sz="1040" dirty="0"/>
          </a:p>
        </p:txBody>
      </p:sp>
      <p:sp>
        <p:nvSpPr>
          <p:cNvPr id="36" name="Text 34"/>
          <p:cNvSpPr/>
          <p:nvPr/>
        </p:nvSpPr>
        <p:spPr>
          <a:xfrm>
            <a:off x="4480560" y="4828032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SLA e follow-up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8065008" y="4389120"/>
            <a:ext cx="3520440" cy="841248"/>
          </a:xfrm>
          <a:prstGeom prst="roundRect">
            <a:avLst>
              <a:gd name="adj" fmla="val 8696"/>
            </a:avLst>
          </a:prstGeom>
          <a:solidFill>
            <a:srgbClr val="2F1D16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0" y="4535424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</a:t>
            </a:r>
            <a:endParaRPr lang="en-US" sz="1040" dirty="0"/>
          </a:p>
        </p:txBody>
      </p:sp>
      <p:sp>
        <p:nvSpPr>
          <p:cNvPr id="39" name="Text 37"/>
          <p:cNvSpPr/>
          <p:nvPr/>
        </p:nvSpPr>
        <p:spPr>
          <a:xfrm>
            <a:off x="8229600" y="4828032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Leads, CPL e vendas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566928" y="5632704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3C2116"/>
          </a:solidFill>
          <a:ln w="12700">
            <a:solidFill>
              <a:srgbClr val="653E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5788152"/>
            <a:ext cx="105457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Apos 45 dias, decidir escala com dados e nao com sensacao.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V4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X9 Skill - Teste de Paridade Visual</dc:title>
  <dc:subject>Teste de formatos X9</dc:subject>
  <dc:creator>x9-2-0-14ev</dc:creator>
  <cp:lastModifiedBy>x9-2-0-14ev</cp:lastModifiedBy>
  <cp:revision>1</cp:revision>
  <dcterms:created xsi:type="dcterms:W3CDTF">2026-05-15T12:07:02Z</dcterms:created>
  <dcterms:modified xsi:type="dcterms:W3CDTF">2026-05-15T12:07:02Z</dcterms:modified>
</cp:coreProperties>
</file>