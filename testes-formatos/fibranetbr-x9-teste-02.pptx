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com metáfora de velocidade e alto contraste. Conteúdo principal continua editável.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2A2A">
              <a:alpha val="20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2A2A">
              <a:alpha val="12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C0C">
              <a:alpha val="24000"/>
            </a:srgbClr>
          </a:solidFill>
          <a:ln w="12700">
            <a:solidFill>
              <a:srgbClr val="370C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2A2A">
              <a:alpha val="4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-720000">
            <a:off x="-640080" y="274320"/>
            <a:ext cx="13533120" cy="960120"/>
          </a:xfrm>
          <a:prstGeom prst="rect">
            <a:avLst/>
          </a:prstGeom>
          <a:solidFill>
            <a:srgbClr val="FF2A2A">
              <a:alpha val="24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080000">
            <a:off x="6126480" y="457200"/>
            <a:ext cx="6949440" cy="5852160"/>
          </a:xfrm>
          <a:prstGeom prst="rect">
            <a:avLst/>
          </a:prstGeom>
          <a:solidFill>
            <a:srgbClr val="FF2A2A">
              <a:alpha val="14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300000">
            <a:off x="-457200" y="5074920"/>
            <a:ext cx="13258800" cy="164592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914400"/>
            <a:ext cx="1554480" cy="2743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07899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FIBRANETBR · SEMANA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1481328"/>
            <a:ext cx="9692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PLAN</a:t>
            </a:r>
            <a:endParaRPr lang="en-US" sz="5300" dirty="0"/>
          </a:p>
        </p:txBody>
      </p:sp>
      <p:sp>
        <p:nvSpPr>
          <p:cNvPr id="15" name="Text 13"/>
          <p:cNvSpPr/>
          <p:nvPr/>
        </p:nvSpPr>
        <p:spPr>
          <a:xfrm>
            <a:off x="566928" y="345643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plano de aceleração para transformar cobertura, confiança e atendimento em crescimento previsível.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61447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Planejamento Estratégico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35440" y="6144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V4 Company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2A2A">
              <a:alpha val="20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2A2A">
              <a:alpha val="12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C0C">
              <a:alpha val="24000"/>
            </a:srgbClr>
          </a:solidFill>
          <a:ln w="12700">
            <a:solidFill>
              <a:srgbClr val="370C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2A2A">
              <a:alpha val="4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F2A2A">
              <a:alpha val="6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DIAGNOSTICO COM EVIDENCIA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gargalo não está na oferta. Está na clareza do caminho.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base operacional é forte, mas o lead ainda encontra fricção entre interesse, atendimento e fechamento.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1938528"/>
            <a:ext cx="73152" cy="4206240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4028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operação precisa vender velocidade antes de vender plano.</a:t>
            </a:r>
            <a:endParaRPr lang="en-US" sz="1880" dirty="0"/>
          </a:p>
        </p:txBody>
      </p:sp>
      <p:sp>
        <p:nvSpPr>
          <p:cNvPr id="16" name="Shape 14"/>
          <p:cNvSpPr/>
          <p:nvPr/>
        </p:nvSpPr>
        <p:spPr>
          <a:xfrm>
            <a:off x="841248" y="3785616"/>
            <a:ext cx="82296" cy="82296"/>
          </a:xfrm>
          <a:prstGeom prst="ellipse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6850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quer resolver instabilidade e não comparar megas.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4297680"/>
            <a:ext cx="82296" cy="82296"/>
          </a:xfrm>
          <a:prstGeom prst="ellipse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197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mensagem comercial ainda depende muito de resposta manual.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1248" y="4809744"/>
            <a:ext cx="82296" cy="82296"/>
          </a:xfrm>
          <a:prstGeom prst="ellipse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7091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régua de CRM, leads quentes esfriam antes da decisão.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41248" y="5321808"/>
            <a:ext cx="82296" cy="82296"/>
          </a:xfrm>
          <a:prstGeom prst="ellipse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5221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Oportunidade: transformar atendimento rápido em argumento de conversão.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98264" y="2267712"/>
            <a:ext cx="2084832" cy="3703320"/>
          </a:xfrm>
          <a:prstGeom prst="roundRect">
            <a:avLst>
              <a:gd name="adj" fmla="val 6579"/>
            </a:avLst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2194560"/>
            <a:ext cx="2084832" cy="3703320"/>
          </a:xfrm>
          <a:prstGeom prst="roundRect">
            <a:avLst>
              <a:gd name="adj" fmla="val 6579"/>
            </a:avLst>
          </a:prstGeom>
          <a:solidFill>
            <a:srgbClr val="EFEFE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2423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quente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07992" y="32735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Tenho fibra aí no meu bairro?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07992" y="5230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de intenção alta que precisa virar triagem imediata.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48856" y="2057400"/>
            <a:ext cx="2084832" cy="3703320"/>
          </a:xfrm>
          <a:prstGeom prst="roundRect">
            <a:avLst>
              <a:gd name="adj" fmla="val 6579"/>
            </a:avLst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1984248"/>
            <a:ext cx="2084832" cy="3703320"/>
          </a:xfrm>
          <a:prstGeom prst="roundRect">
            <a:avLst>
              <a:gd name="adj" fmla="val 6579"/>
            </a:avLst>
          </a:prstGeom>
          <a:solidFill>
            <a:srgbClr val="EFEFE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8584" y="22128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Objeção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58584" y="30632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 meu provedor atual cai toda hora.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58584" y="502005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Sinal de dor. A resposta deve vender estabilidade e suporte.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99448" y="2267712"/>
            <a:ext cx="2084832" cy="3703320"/>
          </a:xfrm>
          <a:prstGeom prst="roundRect">
            <a:avLst>
              <a:gd name="adj" fmla="val 6579"/>
            </a:avLst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44584" y="2194560"/>
            <a:ext cx="2084832" cy="3703320"/>
          </a:xfrm>
          <a:prstGeom prst="roundRect">
            <a:avLst>
              <a:gd name="adj" fmla="val 6579"/>
            </a:avLst>
          </a:prstGeom>
          <a:solidFill>
            <a:srgbClr val="EFEFE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09176" y="24231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Fechamento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409176" y="3273552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Consigo instalar ainda essa semana?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409176" y="5230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Velocidade de ativação vira diferencial comercial.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2A2A">
              <a:alpha val="20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2A2A">
              <a:alpha val="12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C0C">
              <a:alpha val="24000"/>
            </a:srgbClr>
          </a:solidFill>
          <a:ln w="12700">
            <a:solidFill>
              <a:srgbClr val="370C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2A2A">
              <a:alpha val="4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F2A2A">
              <a:alpha val="6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COMERCIAL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comercial: do interesse à ativação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fluxo precisa separar curiosidade, intenção e prontidão para instalação.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176272"/>
            <a:ext cx="2654732" cy="2331720"/>
          </a:xfrm>
          <a:prstGeom prst="roundRect">
            <a:avLst>
              <a:gd name="adj" fmla="val 3137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176272"/>
            <a:ext cx="2654732" cy="548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50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2761488"/>
            <a:ext cx="2325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23255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Anúncios por bairro, criativos de dor e promessa clara de estabilidade.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203372" y="3273552"/>
            <a:ext cx="182880" cy="2743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67964" y="2176272"/>
            <a:ext cx="2654732" cy="2331720"/>
          </a:xfrm>
          <a:prstGeom prst="roundRect">
            <a:avLst>
              <a:gd name="adj" fmla="val 3137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67964" y="2176272"/>
            <a:ext cx="2654732" cy="548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2556" y="2450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32556" y="2761488"/>
            <a:ext cx="2325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32556" y="3337560"/>
            <a:ext cx="23255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Checagem de cobertura, urgência e motivo de troca em até 5 minutos.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004408" y="3273552"/>
            <a:ext cx="182880" cy="2743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9000" y="2176272"/>
            <a:ext cx="2654732" cy="2331720"/>
          </a:xfrm>
          <a:prstGeom prst="roundRect">
            <a:avLst>
              <a:gd name="adj" fmla="val 3137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9000" y="2176272"/>
            <a:ext cx="2654732" cy="548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3592" y="2450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33592" y="2761488"/>
            <a:ext cx="2325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Oferta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33592" y="3337560"/>
            <a:ext cx="23255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Plano recomendado por perfil, com prova local e argumento de instalação.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8805443" y="3273552"/>
            <a:ext cx="182880" cy="2743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70035" y="2176272"/>
            <a:ext cx="2654732" cy="2331720"/>
          </a:xfrm>
          <a:prstGeom prst="roundRect">
            <a:avLst>
              <a:gd name="adj" fmla="val 3137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70035" y="2176272"/>
            <a:ext cx="2654732" cy="54864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34627" y="24505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34627" y="2761488"/>
            <a:ext cx="2325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Ativação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34627" y="3337560"/>
            <a:ext cx="23255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Agendamento, confirmação e onboarding para reduzir arrependimento.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566928" y="4892040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172B20"/>
          </a:solidFill>
          <a:ln w="12700">
            <a:solidFill>
              <a:srgbClr val="3050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892040"/>
            <a:ext cx="73152" cy="896112"/>
          </a:xfrm>
          <a:prstGeom prst="rect">
            <a:avLst/>
          </a:prstGeom>
          <a:solidFill>
            <a:srgbClr val="21C26B"/>
          </a:solidFill>
          <a:ln w="12700">
            <a:solidFill>
              <a:srgbClr val="21C2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047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Ganho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898648" y="5029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com cobertura, dor ativa e instalação agendada.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6172200" y="4892040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331818"/>
          </a:solidFill>
          <a:ln w="12700">
            <a:solidFill>
              <a:srgbClr val="5D32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4892040"/>
            <a:ext cx="73152" cy="89611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5047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Perda / Nutrição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503920" y="502920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 cobertura, sem urgência ou objeção não tratada.</a:t>
            </a:r>
            <a:endParaRPr lang="en-US" sz="10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2A2A">
              <a:alpha val="20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2A2A">
              <a:alpha val="12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C0C">
              <a:alpha val="24000"/>
            </a:srgbClr>
          </a:solidFill>
          <a:ln w="12700">
            <a:solidFill>
              <a:srgbClr val="370C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2A2A">
              <a:alpha val="4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F2A2A">
              <a:alpha val="6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ESTRATEGICA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de mensagem: vender o que o cliente realmente compra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comunicação deve sair de atributos técnicos e entrar em benefício percebido.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121408"/>
            <a:ext cx="2641016" cy="3154680"/>
          </a:xfrm>
          <a:prstGeom prst="roundRect">
            <a:avLst>
              <a:gd name="adj" fmla="val 2770"/>
            </a:avLst>
          </a:prstGeom>
          <a:solidFill>
            <a:srgbClr val="311818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121408"/>
            <a:ext cx="2641016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450592"/>
            <a:ext cx="227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 · Característica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834640"/>
            <a:ext cx="227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Fibra + cobertura local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2275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 técnica e presença regional para reduzir insegurança inicial.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3372536" y="2121408"/>
            <a:ext cx="2641016" cy="3154680"/>
          </a:xfrm>
          <a:prstGeom prst="roundRect">
            <a:avLst>
              <a:gd name="adj" fmla="val 2770"/>
            </a:avLst>
          </a:prstGeom>
          <a:solidFill>
            <a:srgbClr val="311818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72536" y="2121408"/>
            <a:ext cx="2641016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5416" y="2450592"/>
            <a:ext cx="227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 · Vantagem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55416" y="2834640"/>
            <a:ext cx="227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Atendimento próximo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555416" y="3584448"/>
            <a:ext cx="2275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burocracia, resposta mais rápida e sensação de suporte real.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178144" y="2121408"/>
            <a:ext cx="2641016" cy="3154680"/>
          </a:xfrm>
          <a:prstGeom prst="roundRect">
            <a:avLst>
              <a:gd name="adj" fmla="val 2770"/>
            </a:avLst>
          </a:prstGeom>
          <a:solidFill>
            <a:srgbClr val="311818"/>
          </a:solidFill>
          <a:ln w="12700">
            <a:solidFill>
              <a:srgbClr val="3B3B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8144" y="2121408"/>
            <a:ext cx="2641016" cy="6400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1024" y="2450592"/>
            <a:ext cx="227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D8D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 · Benefício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61024" y="2834640"/>
            <a:ext cx="227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Internet sem interrupção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361024" y="3584448"/>
            <a:ext cx="2275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 office, streaming e rotina da casa sem travar no momento crítico.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8983751" y="2121408"/>
            <a:ext cx="2641016" cy="3154680"/>
          </a:xfrm>
          <a:prstGeom prst="roundRect">
            <a:avLst>
              <a:gd name="adj" fmla="val 2770"/>
            </a:avLst>
          </a:prstGeom>
          <a:solidFill>
            <a:srgbClr val="571B1B"/>
          </a:solidFill>
          <a:ln w="12700">
            <a:solidFill>
              <a:srgbClr val="5D32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3751" y="2121408"/>
            <a:ext cx="2641016" cy="64008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6631" y="2450592"/>
            <a:ext cx="227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· Ação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66631" y="2834640"/>
            <a:ext cx="2275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Verifique seu bairro agora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166631" y="3584448"/>
            <a:ext cx="2275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CTA direto para cobertura, WhatsApp e agendamento de instalação.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566928" y="5440680"/>
            <a:ext cx="11057839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5596128"/>
            <a:ext cx="106006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Direção criativa: parar de competir por megas e começar a competir por confiança, estabilidade e velocidade de instalação.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2468880" y="-274320"/>
            <a:ext cx="10515600" cy="7680960"/>
          </a:xfrm>
          <a:prstGeom prst="rect">
            <a:avLst/>
          </a:prstGeom>
          <a:solidFill>
            <a:srgbClr val="101010">
              <a:alpha val="82000"/>
            </a:srgbClr>
          </a:solidFill>
          <a:ln w="12700">
            <a:solidFill>
              <a:srgbClr val="10101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325880"/>
            <a:ext cx="4937760" cy="3840480"/>
          </a:xfrm>
          <a:prstGeom prst="ellipse">
            <a:avLst/>
          </a:prstGeom>
          <a:solidFill>
            <a:srgbClr val="FF2A2A">
              <a:alpha val="20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-658368"/>
            <a:ext cx="3383280" cy="2468880"/>
          </a:xfrm>
          <a:prstGeom prst="ellipse">
            <a:avLst/>
          </a:prstGeom>
          <a:solidFill>
            <a:srgbClr val="FF2A2A">
              <a:alpha val="12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00" y="4572000"/>
            <a:ext cx="4389120" cy="2834640"/>
          </a:xfrm>
          <a:prstGeom prst="ellipse">
            <a:avLst/>
          </a:prstGeom>
          <a:solidFill>
            <a:srgbClr val="370C0C">
              <a:alpha val="24000"/>
            </a:srgbClr>
          </a:solidFill>
          <a:ln w="12700">
            <a:solidFill>
              <a:srgbClr val="370C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A2A"/>
          </a:solidFill>
          <a:ln w="12700">
            <a:solidFill>
              <a:srgbClr val="FF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2A2A">
              <a:alpha val="4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310896"/>
            <a:ext cx="1097280" cy="18288"/>
          </a:xfrm>
          <a:prstGeom prst="rect">
            <a:avLst/>
          </a:prstGeom>
          <a:solidFill>
            <a:srgbClr val="FF2A2A">
              <a:alpha val="65000"/>
            </a:srgbClr>
          </a:solidFill>
          <a:ln w="12700">
            <a:solidFill>
              <a:srgbClr val="FF2A2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389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PROXIMOS PASSOS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7315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Próximos passos imediatos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14264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semana seguinte deve validar o motor de aquisição com controle comercial.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029968"/>
            <a:ext cx="3576218" cy="1170432"/>
          </a:xfrm>
          <a:prstGeom prst="roundRect">
            <a:avLst>
              <a:gd name="adj" fmla="val 6250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194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25296" y="2176272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de bairros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1225296" y="2551176"/>
            <a:ext cx="2753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Separar áreas prioritárias por cobertura, demanda e ticket.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307738" y="2029968"/>
            <a:ext cx="3576218" cy="1170432"/>
          </a:xfrm>
          <a:prstGeom prst="roundRect">
            <a:avLst>
              <a:gd name="adj" fmla="val 6250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2330" y="2194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6106" y="2176272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Criativos de dor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4966106" y="2551176"/>
            <a:ext cx="2753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Testar instabilidade, atendimento e instalação rápida.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8048549" y="2029968"/>
            <a:ext cx="3576218" cy="1170432"/>
          </a:xfrm>
          <a:prstGeom prst="roundRect">
            <a:avLst>
              <a:gd name="adj" fmla="val 6250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3141" y="21945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06917" y="2176272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Régua WhatsApp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8706917" y="2551176"/>
            <a:ext cx="2753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Padronizar triagem, objeções e follow-up.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66928" y="3419856"/>
            <a:ext cx="3576218" cy="1170432"/>
          </a:xfrm>
          <a:prstGeom prst="roundRect">
            <a:avLst>
              <a:gd name="adj" fmla="val 6250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84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25296" y="3566160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mínimo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1225296" y="3941064"/>
            <a:ext cx="2753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por lead: novo, qualificado, agendado, perdido.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4307738" y="3419856"/>
            <a:ext cx="3576218" cy="1170432"/>
          </a:xfrm>
          <a:prstGeom prst="roundRect">
            <a:avLst>
              <a:gd name="adj" fmla="val 6250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2330" y="3584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66106" y="3566160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Prova local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4966106" y="3941064"/>
            <a:ext cx="2753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Usar reputação, nota e depoimentos por região.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8048549" y="3419856"/>
            <a:ext cx="3576218" cy="1170432"/>
          </a:xfrm>
          <a:prstGeom prst="roundRect">
            <a:avLst>
              <a:gd name="adj" fmla="val 6250"/>
            </a:avLst>
          </a:prstGeom>
          <a:solidFill>
            <a:srgbClr val="311818"/>
          </a:solidFill>
          <a:ln w="12700">
            <a:solidFill>
              <a:srgbClr val="5932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13141" y="3584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06917" y="3566160"/>
            <a:ext cx="27532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Painel semanal</a:t>
            </a:r>
            <a:endParaRPr lang="en-US" sz="1340" dirty="0"/>
          </a:p>
        </p:txBody>
      </p:sp>
      <p:sp>
        <p:nvSpPr>
          <p:cNvPr id="36" name="Text 34"/>
          <p:cNvSpPr/>
          <p:nvPr/>
        </p:nvSpPr>
        <p:spPr>
          <a:xfrm>
            <a:off x="8706917" y="3941064"/>
            <a:ext cx="27532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CPL, taxa de resposta, agendamento e ativação.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566928" y="5074920"/>
            <a:ext cx="11057839" cy="713232"/>
          </a:xfrm>
          <a:prstGeom prst="roundRect">
            <a:avLst>
              <a:gd name="adj" fmla="val 10256"/>
            </a:avLst>
          </a:prstGeom>
          <a:solidFill>
            <a:srgbClr val="3F1919"/>
          </a:solidFill>
          <a:ln w="12700">
            <a:solidFill>
              <a:srgbClr val="6732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5303520"/>
            <a:ext cx="10600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do teste: transformar atenção em agendamento, e agendamento em ativação rastreável.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V4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FibranetBR - Teste 02 - Padrão Híbrido Genspark/V4</dc:title>
  <dc:subject>Teste de formatos X9</dc:subject>
  <dc:creator>x9-2-0-14ev</dc:creator>
  <cp:lastModifiedBy>x9-2-0-14ev</cp:lastModifiedBy>
  <cp:revision>1</cp:revision>
  <dcterms:created xsi:type="dcterms:W3CDTF">2026-05-14T22:14:17Z</dcterms:created>
  <dcterms:modified xsi:type="dcterms:W3CDTF">2026-05-14T22:14:17Z</dcterms:modified>
</cp:coreProperties>
</file>